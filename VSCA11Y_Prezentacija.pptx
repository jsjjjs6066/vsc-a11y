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75" d="100"/>
          <a:sy n="75" d="100"/>
        </p:scale>
        <p:origin x="91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78B42D3-DBC9-482B-BEEE-29BB437F2E58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629CD954-580B-4A87-8AFB-FB22347464ED}">
      <dgm:prSet/>
      <dgm:spPr/>
      <dgm:t>
        <a:bodyPr/>
        <a:lstStyle/>
        <a:p>
          <a:r>
            <a:rPr lang="en-US" b="0" i="0" baseline="0"/>
            <a:t>Ishihara test služi za provjeru raspoznavanja boja</a:t>
          </a:r>
          <a:endParaRPr lang="en-US"/>
        </a:p>
      </dgm:t>
    </dgm:pt>
    <dgm:pt modelId="{B8E21656-F268-42B1-BB5B-EE79D2FEC237}" type="parTrans" cxnId="{1A3DB804-A2B5-4EA7-95A4-B24760054EF1}">
      <dgm:prSet/>
      <dgm:spPr/>
      <dgm:t>
        <a:bodyPr/>
        <a:lstStyle/>
        <a:p>
          <a:endParaRPr lang="en-US"/>
        </a:p>
      </dgm:t>
    </dgm:pt>
    <dgm:pt modelId="{CCFDC074-D427-4922-8777-D97E26655191}" type="sibTrans" cxnId="{1A3DB804-A2B5-4EA7-95A4-B24760054EF1}">
      <dgm:prSet/>
      <dgm:spPr/>
      <dgm:t>
        <a:bodyPr/>
        <a:lstStyle/>
        <a:p>
          <a:endParaRPr lang="en-US"/>
        </a:p>
      </dgm:t>
    </dgm:pt>
    <dgm:pt modelId="{7A487677-C17B-4F02-8E5A-95F76761AF91}">
      <dgm:prSet/>
      <dgm:spPr/>
      <dgm:t>
        <a:bodyPr/>
        <a:lstStyle/>
        <a:p>
          <a:r>
            <a:rPr lang="en-US" b="0" i="0" baseline="0"/>
            <a:t>Najčešće se koristi za otkrivanje daltonizma</a:t>
          </a:r>
          <a:endParaRPr lang="en-US"/>
        </a:p>
      </dgm:t>
    </dgm:pt>
    <dgm:pt modelId="{3D563C10-2DDD-4848-9389-C37332045E93}" type="parTrans" cxnId="{0DF6A6E9-F39E-4328-8182-4686F5DC6988}">
      <dgm:prSet/>
      <dgm:spPr/>
      <dgm:t>
        <a:bodyPr/>
        <a:lstStyle/>
        <a:p>
          <a:endParaRPr lang="en-US"/>
        </a:p>
      </dgm:t>
    </dgm:pt>
    <dgm:pt modelId="{2064B7E1-12B9-4E25-B2DF-A84C681B476F}" type="sibTrans" cxnId="{0DF6A6E9-F39E-4328-8182-4686F5DC6988}">
      <dgm:prSet/>
      <dgm:spPr/>
      <dgm:t>
        <a:bodyPr/>
        <a:lstStyle/>
        <a:p>
          <a:endParaRPr lang="en-US"/>
        </a:p>
      </dgm:t>
    </dgm:pt>
    <dgm:pt modelId="{937A638B-F9E6-48D4-A4AF-92D7CD61C039}">
      <dgm:prSet/>
      <dgm:spPr/>
      <dgm:t>
        <a:bodyPr/>
        <a:lstStyle/>
        <a:p>
          <a:r>
            <a:rPr lang="en-US" b="0" i="0" baseline="0"/>
            <a:t>Test se sastoji od slika s brojevima od točkica</a:t>
          </a:r>
          <a:endParaRPr lang="en-US"/>
        </a:p>
      </dgm:t>
    </dgm:pt>
    <dgm:pt modelId="{960EE190-E614-4309-8003-93F6B82C60BE}" type="parTrans" cxnId="{2D335367-C658-4790-8225-65E650685AE0}">
      <dgm:prSet/>
      <dgm:spPr/>
      <dgm:t>
        <a:bodyPr/>
        <a:lstStyle/>
        <a:p>
          <a:endParaRPr lang="en-US"/>
        </a:p>
      </dgm:t>
    </dgm:pt>
    <dgm:pt modelId="{795B2ECF-0618-4F92-AA74-625990A6CB75}" type="sibTrans" cxnId="{2D335367-C658-4790-8225-65E650685AE0}">
      <dgm:prSet/>
      <dgm:spPr/>
      <dgm:t>
        <a:bodyPr/>
        <a:lstStyle/>
        <a:p>
          <a:endParaRPr lang="en-US"/>
        </a:p>
      </dgm:t>
    </dgm:pt>
    <dgm:pt modelId="{C1A94787-402D-4F33-A3AA-D213626A9EA6}">
      <dgm:prSet/>
      <dgm:spPr/>
      <dgm:t>
        <a:bodyPr/>
        <a:lstStyle/>
        <a:p>
          <a:r>
            <a:rPr lang="en-US" b="0" i="0" baseline="0"/>
            <a:t>Korisnik pokušava prepoznati broj</a:t>
          </a:r>
          <a:endParaRPr lang="en-US"/>
        </a:p>
      </dgm:t>
    </dgm:pt>
    <dgm:pt modelId="{C5245BB1-9F76-4763-96AE-6B722B5F6F47}" type="parTrans" cxnId="{D38E409F-09D2-40BF-9D6A-DC20B906FAC5}">
      <dgm:prSet/>
      <dgm:spPr/>
      <dgm:t>
        <a:bodyPr/>
        <a:lstStyle/>
        <a:p>
          <a:endParaRPr lang="en-US"/>
        </a:p>
      </dgm:t>
    </dgm:pt>
    <dgm:pt modelId="{EDBC1895-DB8E-4A10-9A5D-AF087431D2EA}" type="sibTrans" cxnId="{D38E409F-09D2-40BF-9D6A-DC20B906FAC5}">
      <dgm:prSet/>
      <dgm:spPr/>
      <dgm:t>
        <a:bodyPr/>
        <a:lstStyle/>
        <a:p>
          <a:endParaRPr lang="en-US"/>
        </a:p>
      </dgm:t>
    </dgm:pt>
    <dgm:pt modelId="{087254B4-6787-44C1-BFCD-DED374DB6F3D}" type="pres">
      <dgm:prSet presAssocID="{178B42D3-DBC9-482B-BEEE-29BB437F2E58}" presName="linear" presStyleCnt="0">
        <dgm:presLayoutVars>
          <dgm:animLvl val="lvl"/>
          <dgm:resizeHandles val="exact"/>
        </dgm:presLayoutVars>
      </dgm:prSet>
      <dgm:spPr/>
    </dgm:pt>
    <dgm:pt modelId="{FD087A17-0D42-4CEF-B7CD-FC3C72ABE4D1}" type="pres">
      <dgm:prSet presAssocID="{629CD954-580B-4A87-8AFB-FB22347464ED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19551CF2-79E1-447D-8A86-20F184A1DFE7}" type="pres">
      <dgm:prSet presAssocID="{CCFDC074-D427-4922-8777-D97E26655191}" presName="spacer" presStyleCnt="0"/>
      <dgm:spPr/>
    </dgm:pt>
    <dgm:pt modelId="{691BC7A5-706E-4EB2-B8AE-93F288D8DED2}" type="pres">
      <dgm:prSet presAssocID="{7A487677-C17B-4F02-8E5A-95F76761AF91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D7787E06-F2E3-450D-A161-6E627D175589}" type="pres">
      <dgm:prSet presAssocID="{2064B7E1-12B9-4E25-B2DF-A84C681B476F}" presName="spacer" presStyleCnt="0"/>
      <dgm:spPr/>
    </dgm:pt>
    <dgm:pt modelId="{39531E36-7D8F-47EA-A0C3-0EC4D880E961}" type="pres">
      <dgm:prSet presAssocID="{937A638B-F9E6-48D4-A4AF-92D7CD61C039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F4DE1EDB-3424-4345-8BA9-EEFA6A1B46A6}" type="pres">
      <dgm:prSet presAssocID="{795B2ECF-0618-4F92-AA74-625990A6CB75}" presName="spacer" presStyleCnt="0"/>
      <dgm:spPr/>
    </dgm:pt>
    <dgm:pt modelId="{7695EFDA-3E50-45CA-B6B5-B2BAE84B5C1B}" type="pres">
      <dgm:prSet presAssocID="{C1A94787-402D-4F33-A3AA-D213626A9EA6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0AD94F04-11C7-412A-9332-4882391D7DFB}" type="presOf" srcId="{7A487677-C17B-4F02-8E5A-95F76761AF91}" destId="{691BC7A5-706E-4EB2-B8AE-93F288D8DED2}" srcOrd="0" destOrd="0" presId="urn:microsoft.com/office/officeart/2005/8/layout/vList2"/>
    <dgm:cxn modelId="{1A3DB804-A2B5-4EA7-95A4-B24760054EF1}" srcId="{178B42D3-DBC9-482B-BEEE-29BB437F2E58}" destId="{629CD954-580B-4A87-8AFB-FB22347464ED}" srcOrd="0" destOrd="0" parTransId="{B8E21656-F268-42B1-BB5B-EE79D2FEC237}" sibTransId="{CCFDC074-D427-4922-8777-D97E26655191}"/>
    <dgm:cxn modelId="{2D335367-C658-4790-8225-65E650685AE0}" srcId="{178B42D3-DBC9-482B-BEEE-29BB437F2E58}" destId="{937A638B-F9E6-48D4-A4AF-92D7CD61C039}" srcOrd="2" destOrd="0" parTransId="{960EE190-E614-4309-8003-93F6B82C60BE}" sibTransId="{795B2ECF-0618-4F92-AA74-625990A6CB75}"/>
    <dgm:cxn modelId="{C9A74B6F-51F0-4032-8FBC-C268D5AF2512}" type="presOf" srcId="{937A638B-F9E6-48D4-A4AF-92D7CD61C039}" destId="{39531E36-7D8F-47EA-A0C3-0EC4D880E961}" srcOrd="0" destOrd="0" presId="urn:microsoft.com/office/officeart/2005/8/layout/vList2"/>
    <dgm:cxn modelId="{F82E7B53-ECCC-4A0C-8F80-B480449F6564}" type="presOf" srcId="{178B42D3-DBC9-482B-BEEE-29BB437F2E58}" destId="{087254B4-6787-44C1-BFCD-DED374DB6F3D}" srcOrd="0" destOrd="0" presId="urn:microsoft.com/office/officeart/2005/8/layout/vList2"/>
    <dgm:cxn modelId="{A5538C8B-E444-4F90-A9F0-52506FE1B6CF}" type="presOf" srcId="{C1A94787-402D-4F33-A3AA-D213626A9EA6}" destId="{7695EFDA-3E50-45CA-B6B5-B2BAE84B5C1B}" srcOrd="0" destOrd="0" presId="urn:microsoft.com/office/officeart/2005/8/layout/vList2"/>
    <dgm:cxn modelId="{8A393A95-BD89-41A3-BB70-4E99432131BE}" type="presOf" srcId="{629CD954-580B-4A87-8AFB-FB22347464ED}" destId="{FD087A17-0D42-4CEF-B7CD-FC3C72ABE4D1}" srcOrd="0" destOrd="0" presId="urn:microsoft.com/office/officeart/2005/8/layout/vList2"/>
    <dgm:cxn modelId="{D38E409F-09D2-40BF-9D6A-DC20B906FAC5}" srcId="{178B42D3-DBC9-482B-BEEE-29BB437F2E58}" destId="{C1A94787-402D-4F33-A3AA-D213626A9EA6}" srcOrd="3" destOrd="0" parTransId="{C5245BB1-9F76-4763-96AE-6B722B5F6F47}" sibTransId="{EDBC1895-DB8E-4A10-9A5D-AF087431D2EA}"/>
    <dgm:cxn modelId="{0DF6A6E9-F39E-4328-8182-4686F5DC6988}" srcId="{178B42D3-DBC9-482B-BEEE-29BB437F2E58}" destId="{7A487677-C17B-4F02-8E5A-95F76761AF91}" srcOrd="1" destOrd="0" parTransId="{3D563C10-2DDD-4848-9389-C37332045E93}" sibTransId="{2064B7E1-12B9-4E25-B2DF-A84C681B476F}"/>
    <dgm:cxn modelId="{D734EBB4-A9FE-4212-BB20-439742FD6E3C}" type="presParOf" srcId="{087254B4-6787-44C1-BFCD-DED374DB6F3D}" destId="{FD087A17-0D42-4CEF-B7CD-FC3C72ABE4D1}" srcOrd="0" destOrd="0" presId="urn:microsoft.com/office/officeart/2005/8/layout/vList2"/>
    <dgm:cxn modelId="{AAC465D5-6A67-4410-BF0F-7107DFAD2FE0}" type="presParOf" srcId="{087254B4-6787-44C1-BFCD-DED374DB6F3D}" destId="{19551CF2-79E1-447D-8A86-20F184A1DFE7}" srcOrd="1" destOrd="0" presId="urn:microsoft.com/office/officeart/2005/8/layout/vList2"/>
    <dgm:cxn modelId="{80402E09-D2C4-473E-976D-86E27C387348}" type="presParOf" srcId="{087254B4-6787-44C1-BFCD-DED374DB6F3D}" destId="{691BC7A5-706E-4EB2-B8AE-93F288D8DED2}" srcOrd="2" destOrd="0" presId="urn:microsoft.com/office/officeart/2005/8/layout/vList2"/>
    <dgm:cxn modelId="{BB584575-DC15-4043-A85E-2A8C444D0914}" type="presParOf" srcId="{087254B4-6787-44C1-BFCD-DED374DB6F3D}" destId="{D7787E06-F2E3-450D-A161-6E627D175589}" srcOrd="3" destOrd="0" presId="urn:microsoft.com/office/officeart/2005/8/layout/vList2"/>
    <dgm:cxn modelId="{EB817899-5E67-490E-B5BE-D4C37B419F54}" type="presParOf" srcId="{087254B4-6787-44C1-BFCD-DED374DB6F3D}" destId="{39531E36-7D8F-47EA-A0C3-0EC4D880E961}" srcOrd="4" destOrd="0" presId="urn:microsoft.com/office/officeart/2005/8/layout/vList2"/>
    <dgm:cxn modelId="{1B1B8702-DA33-4F19-B844-485A0C87EA70}" type="presParOf" srcId="{087254B4-6787-44C1-BFCD-DED374DB6F3D}" destId="{F4DE1EDB-3424-4345-8BA9-EEFA6A1B46A6}" srcOrd="5" destOrd="0" presId="urn:microsoft.com/office/officeart/2005/8/layout/vList2"/>
    <dgm:cxn modelId="{C4C25DB3-F01A-4F72-AD87-0F67F20391DB}" type="presParOf" srcId="{087254B4-6787-44C1-BFCD-DED374DB6F3D}" destId="{7695EFDA-3E50-45CA-B6B5-B2BAE84B5C1B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2F63249-8033-4850-AB66-3A27107698D2}" type="doc">
      <dgm:prSet loTypeId="urn:microsoft.com/office/officeart/2005/8/layout/vProcess5" loCatId="process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4F5FD829-FFC4-402B-BD51-5D6B7DE59121}">
      <dgm:prSet/>
      <dgm:spPr/>
      <dgm:t>
        <a:bodyPr/>
        <a:lstStyle/>
        <a:p>
          <a:r>
            <a:rPr lang="en-US" b="0" i="0" baseline="0"/>
            <a:t>VSC A11Y olakšava rad s kodom</a:t>
          </a:r>
          <a:endParaRPr lang="en-US"/>
        </a:p>
      </dgm:t>
    </dgm:pt>
    <dgm:pt modelId="{3660C729-E887-4376-A337-D36E2A6038C0}" type="parTrans" cxnId="{79DFA2F2-D37D-4A1C-BE2F-6F6225303813}">
      <dgm:prSet/>
      <dgm:spPr/>
      <dgm:t>
        <a:bodyPr/>
        <a:lstStyle/>
        <a:p>
          <a:endParaRPr lang="en-US"/>
        </a:p>
      </dgm:t>
    </dgm:pt>
    <dgm:pt modelId="{EDD3A9FF-DE20-4ED6-B60C-A52656DF3813}" type="sibTrans" cxnId="{79DFA2F2-D37D-4A1C-BE2F-6F6225303813}">
      <dgm:prSet/>
      <dgm:spPr/>
      <dgm:t>
        <a:bodyPr/>
        <a:lstStyle/>
        <a:p>
          <a:endParaRPr lang="en-US"/>
        </a:p>
      </dgm:t>
    </dgm:pt>
    <dgm:pt modelId="{99C79BC7-1C55-4626-8C31-67DE9C67AD07}">
      <dgm:prSet/>
      <dgm:spPr/>
      <dgm:t>
        <a:bodyPr/>
        <a:lstStyle/>
        <a:p>
          <a:r>
            <a:rPr lang="en-US" b="0" i="0" baseline="0"/>
            <a:t>Posebno pomaže osobama s daltonizmom</a:t>
          </a:r>
          <a:endParaRPr lang="en-US"/>
        </a:p>
      </dgm:t>
    </dgm:pt>
    <dgm:pt modelId="{2F8D7301-1204-4176-82EB-5AFAC035CB64}" type="parTrans" cxnId="{07D37BFF-A917-4935-96F7-9E780AFF2F3E}">
      <dgm:prSet/>
      <dgm:spPr/>
      <dgm:t>
        <a:bodyPr/>
        <a:lstStyle/>
        <a:p>
          <a:endParaRPr lang="en-US"/>
        </a:p>
      </dgm:t>
    </dgm:pt>
    <dgm:pt modelId="{7E3FA616-4807-4F54-B6A3-590F7E8176EA}" type="sibTrans" cxnId="{07D37BFF-A917-4935-96F7-9E780AFF2F3E}">
      <dgm:prSet/>
      <dgm:spPr/>
      <dgm:t>
        <a:bodyPr/>
        <a:lstStyle/>
        <a:p>
          <a:endParaRPr lang="en-US"/>
        </a:p>
      </dgm:t>
    </dgm:pt>
    <dgm:pt modelId="{8B3E93F0-7103-4DD3-817F-5D3CFCB1C48C}">
      <dgm:prSet/>
      <dgm:spPr/>
      <dgm:t>
        <a:bodyPr/>
        <a:lstStyle/>
        <a:p>
          <a:r>
            <a:rPr lang="en-US" b="0" i="0" baseline="0"/>
            <a:t>Projekt pokazuje važnost pristupačnosti</a:t>
          </a:r>
          <a:endParaRPr lang="en-US"/>
        </a:p>
      </dgm:t>
    </dgm:pt>
    <dgm:pt modelId="{250AC887-89D5-4E82-A257-D596AC214E69}" type="parTrans" cxnId="{F6A135B5-885B-4AC9-8ADD-60BD4008EE15}">
      <dgm:prSet/>
      <dgm:spPr/>
      <dgm:t>
        <a:bodyPr/>
        <a:lstStyle/>
        <a:p>
          <a:endParaRPr lang="en-US"/>
        </a:p>
      </dgm:t>
    </dgm:pt>
    <dgm:pt modelId="{CD48D253-76CA-42B3-8278-CD5EFA5D1608}" type="sibTrans" cxnId="{F6A135B5-885B-4AC9-8ADD-60BD4008EE15}">
      <dgm:prSet/>
      <dgm:spPr/>
      <dgm:t>
        <a:bodyPr/>
        <a:lstStyle/>
        <a:p>
          <a:endParaRPr lang="en-US"/>
        </a:p>
      </dgm:t>
    </dgm:pt>
    <dgm:pt modelId="{4345621D-5CBB-49E9-91E6-C2D42B16EE3F}">
      <dgm:prSet/>
      <dgm:spPr/>
      <dgm:t>
        <a:bodyPr/>
        <a:lstStyle/>
        <a:p>
          <a:r>
            <a:rPr lang="en-US" b="0" i="0" baseline="0"/>
            <a:t>Mali alati mogu napraviti veliku razliku</a:t>
          </a:r>
          <a:endParaRPr lang="en-US"/>
        </a:p>
      </dgm:t>
    </dgm:pt>
    <dgm:pt modelId="{EC99CEDD-21E9-4CCE-B400-0D4D0883DDB2}" type="parTrans" cxnId="{B09D9011-07C5-488C-97E4-1AB75620B2CD}">
      <dgm:prSet/>
      <dgm:spPr/>
      <dgm:t>
        <a:bodyPr/>
        <a:lstStyle/>
        <a:p>
          <a:endParaRPr lang="en-US"/>
        </a:p>
      </dgm:t>
    </dgm:pt>
    <dgm:pt modelId="{1BD15487-F405-4B03-9753-6B9C8AA19115}" type="sibTrans" cxnId="{B09D9011-07C5-488C-97E4-1AB75620B2CD}">
      <dgm:prSet/>
      <dgm:spPr/>
      <dgm:t>
        <a:bodyPr/>
        <a:lstStyle/>
        <a:p>
          <a:endParaRPr lang="en-US"/>
        </a:p>
      </dgm:t>
    </dgm:pt>
    <dgm:pt modelId="{52C66291-C79D-4841-8BC1-976549432EA0}" type="pres">
      <dgm:prSet presAssocID="{A2F63249-8033-4850-AB66-3A27107698D2}" presName="outerComposite" presStyleCnt="0">
        <dgm:presLayoutVars>
          <dgm:chMax val="5"/>
          <dgm:dir/>
          <dgm:resizeHandles val="exact"/>
        </dgm:presLayoutVars>
      </dgm:prSet>
      <dgm:spPr/>
    </dgm:pt>
    <dgm:pt modelId="{C9DC15E0-A049-4CE8-989E-7E93DBA140F2}" type="pres">
      <dgm:prSet presAssocID="{A2F63249-8033-4850-AB66-3A27107698D2}" presName="dummyMaxCanvas" presStyleCnt="0">
        <dgm:presLayoutVars/>
      </dgm:prSet>
      <dgm:spPr/>
    </dgm:pt>
    <dgm:pt modelId="{F9826A31-CFFB-4442-9E51-CD07943185C7}" type="pres">
      <dgm:prSet presAssocID="{A2F63249-8033-4850-AB66-3A27107698D2}" presName="FourNodes_1" presStyleLbl="node1" presStyleIdx="0" presStyleCnt="4">
        <dgm:presLayoutVars>
          <dgm:bulletEnabled val="1"/>
        </dgm:presLayoutVars>
      </dgm:prSet>
      <dgm:spPr/>
    </dgm:pt>
    <dgm:pt modelId="{A2D6ADFD-931D-4459-B0A0-365294F54043}" type="pres">
      <dgm:prSet presAssocID="{A2F63249-8033-4850-AB66-3A27107698D2}" presName="FourNodes_2" presStyleLbl="node1" presStyleIdx="1" presStyleCnt="4">
        <dgm:presLayoutVars>
          <dgm:bulletEnabled val="1"/>
        </dgm:presLayoutVars>
      </dgm:prSet>
      <dgm:spPr/>
    </dgm:pt>
    <dgm:pt modelId="{B0402287-AFA8-4129-9B96-02CCB0281A09}" type="pres">
      <dgm:prSet presAssocID="{A2F63249-8033-4850-AB66-3A27107698D2}" presName="FourNodes_3" presStyleLbl="node1" presStyleIdx="2" presStyleCnt="4">
        <dgm:presLayoutVars>
          <dgm:bulletEnabled val="1"/>
        </dgm:presLayoutVars>
      </dgm:prSet>
      <dgm:spPr/>
    </dgm:pt>
    <dgm:pt modelId="{9F50272A-140D-4A80-841D-6EFBD7EBC039}" type="pres">
      <dgm:prSet presAssocID="{A2F63249-8033-4850-AB66-3A27107698D2}" presName="FourNodes_4" presStyleLbl="node1" presStyleIdx="3" presStyleCnt="4">
        <dgm:presLayoutVars>
          <dgm:bulletEnabled val="1"/>
        </dgm:presLayoutVars>
      </dgm:prSet>
      <dgm:spPr/>
    </dgm:pt>
    <dgm:pt modelId="{A6B06613-92DE-4ADD-9E74-8B7C7F1F5B9D}" type="pres">
      <dgm:prSet presAssocID="{A2F63249-8033-4850-AB66-3A27107698D2}" presName="FourConn_1-2" presStyleLbl="fgAccFollowNode1" presStyleIdx="0" presStyleCnt="3">
        <dgm:presLayoutVars>
          <dgm:bulletEnabled val="1"/>
        </dgm:presLayoutVars>
      </dgm:prSet>
      <dgm:spPr/>
    </dgm:pt>
    <dgm:pt modelId="{C5418497-57C9-493D-B5D9-CE0EA4A0B564}" type="pres">
      <dgm:prSet presAssocID="{A2F63249-8033-4850-AB66-3A27107698D2}" presName="FourConn_2-3" presStyleLbl="fgAccFollowNode1" presStyleIdx="1" presStyleCnt="3">
        <dgm:presLayoutVars>
          <dgm:bulletEnabled val="1"/>
        </dgm:presLayoutVars>
      </dgm:prSet>
      <dgm:spPr/>
    </dgm:pt>
    <dgm:pt modelId="{F46CB580-199D-44F4-B330-50F167B18DB6}" type="pres">
      <dgm:prSet presAssocID="{A2F63249-8033-4850-AB66-3A27107698D2}" presName="FourConn_3-4" presStyleLbl="fgAccFollowNode1" presStyleIdx="2" presStyleCnt="3">
        <dgm:presLayoutVars>
          <dgm:bulletEnabled val="1"/>
        </dgm:presLayoutVars>
      </dgm:prSet>
      <dgm:spPr/>
    </dgm:pt>
    <dgm:pt modelId="{DF22DF0D-4BC4-459D-9D2E-8DCDC738F128}" type="pres">
      <dgm:prSet presAssocID="{A2F63249-8033-4850-AB66-3A27107698D2}" presName="FourNodes_1_text" presStyleLbl="node1" presStyleIdx="3" presStyleCnt="4">
        <dgm:presLayoutVars>
          <dgm:bulletEnabled val="1"/>
        </dgm:presLayoutVars>
      </dgm:prSet>
      <dgm:spPr/>
    </dgm:pt>
    <dgm:pt modelId="{B81CFD2C-C6AC-4FA2-B004-C40D0289BD0F}" type="pres">
      <dgm:prSet presAssocID="{A2F63249-8033-4850-AB66-3A27107698D2}" presName="FourNodes_2_text" presStyleLbl="node1" presStyleIdx="3" presStyleCnt="4">
        <dgm:presLayoutVars>
          <dgm:bulletEnabled val="1"/>
        </dgm:presLayoutVars>
      </dgm:prSet>
      <dgm:spPr/>
    </dgm:pt>
    <dgm:pt modelId="{AB621415-4321-48EF-9694-79013787DEA0}" type="pres">
      <dgm:prSet presAssocID="{A2F63249-8033-4850-AB66-3A27107698D2}" presName="FourNodes_3_text" presStyleLbl="node1" presStyleIdx="3" presStyleCnt="4">
        <dgm:presLayoutVars>
          <dgm:bulletEnabled val="1"/>
        </dgm:presLayoutVars>
      </dgm:prSet>
      <dgm:spPr/>
    </dgm:pt>
    <dgm:pt modelId="{1C90D6C2-9A19-47B9-8578-2357EC20E1C7}" type="pres">
      <dgm:prSet presAssocID="{A2F63249-8033-4850-AB66-3A27107698D2}" presName="FourNodes_4_text" presStyleLbl="node1" presStyleIdx="3" presStyleCnt="4">
        <dgm:presLayoutVars>
          <dgm:bulletEnabled val="1"/>
        </dgm:presLayoutVars>
      </dgm:prSet>
      <dgm:spPr/>
    </dgm:pt>
  </dgm:ptLst>
  <dgm:cxnLst>
    <dgm:cxn modelId="{B09D9011-07C5-488C-97E4-1AB75620B2CD}" srcId="{A2F63249-8033-4850-AB66-3A27107698D2}" destId="{4345621D-5CBB-49E9-91E6-C2D42B16EE3F}" srcOrd="3" destOrd="0" parTransId="{EC99CEDD-21E9-4CCE-B400-0D4D0883DDB2}" sibTransId="{1BD15487-F405-4B03-9753-6B9C8AA19115}"/>
    <dgm:cxn modelId="{1F7C831C-D445-441B-9F90-500DC880A716}" type="presOf" srcId="{7E3FA616-4807-4F54-B6A3-590F7E8176EA}" destId="{C5418497-57C9-493D-B5D9-CE0EA4A0B564}" srcOrd="0" destOrd="0" presId="urn:microsoft.com/office/officeart/2005/8/layout/vProcess5"/>
    <dgm:cxn modelId="{6BE3BA31-760B-4E89-93D2-31EC6E06B740}" type="presOf" srcId="{A2F63249-8033-4850-AB66-3A27107698D2}" destId="{52C66291-C79D-4841-8BC1-976549432EA0}" srcOrd="0" destOrd="0" presId="urn:microsoft.com/office/officeart/2005/8/layout/vProcess5"/>
    <dgm:cxn modelId="{A2037664-92B1-4EE9-B1CF-CFBC76B25FB3}" type="presOf" srcId="{8B3E93F0-7103-4DD3-817F-5D3CFCB1C48C}" destId="{B0402287-AFA8-4129-9B96-02CCB0281A09}" srcOrd="0" destOrd="0" presId="urn:microsoft.com/office/officeart/2005/8/layout/vProcess5"/>
    <dgm:cxn modelId="{A039804B-2637-406E-8784-98D6C7437A70}" type="presOf" srcId="{4F5FD829-FFC4-402B-BD51-5D6B7DE59121}" destId="{F9826A31-CFFB-4442-9E51-CD07943185C7}" srcOrd="0" destOrd="0" presId="urn:microsoft.com/office/officeart/2005/8/layout/vProcess5"/>
    <dgm:cxn modelId="{74433B7C-1BC2-476E-B02D-4CB964BC3D4A}" type="presOf" srcId="{99C79BC7-1C55-4626-8C31-67DE9C67AD07}" destId="{B81CFD2C-C6AC-4FA2-B004-C40D0289BD0F}" srcOrd="1" destOrd="0" presId="urn:microsoft.com/office/officeart/2005/8/layout/vProcess5"/>
    <dgm:cxn modelId="{9A419C8E-F6B5-4001-8F39-B40170B91253}" type="presOf" srcId="{4F5FD829-FFC4-402B-BD51-5D6B7DE59121}" destId="{DF22DF0D-4BC4-459D-9D2E-8DCDC738F128}" srcOrd="1" destOrd="0" presId="urn:microsoft.com/office/officeart/2005/8/layout/vProcess5"/>
    <dgm:cxn modelId="{49A20B98-D92F-43BF-8628-D309E571CE63}" type="presOf" srcId="{99C79BC7-1C55-4626-8C31-67DE9C67AD07}" destId="{A2D6ADFD-931D-4459-B0A0-365294F54043}" srcOrd="0" destOrd="0" presId="urn:microsoft.com/office/officeart/2005/8/layout/vProcess5"/>
    <dgm:cxn modelId="{520361AB-2948-43F9-9FC0-7F8883676B76}" type="presOf" srcId="{4345621D-5CBB-49E9-91E6-C2D42B16EE3F}" destId="{9F50272A-140D-4A80-841D-6EFBD7EBC039}" srcOrd="0" destOrd="0" presId="urn:microsoft.com/office/officeart/2005/8/layout/vProcess5"/>
    <dgm:cxn modelId="{F6A135B5-885B-4AC9-8ADD-60BD4008EE15}" srcId="{A2F63249-8033-4850-AB66-3A27107698D2}" destId="{8B3E93F0-7103-4DD3-817F-5D3CFCB1C48C}" srcOrd="2" destOrd="0" parTransId="{250AC887-89D5-4E82-A257-D596AC214E69}" sibTransId="{CD48D253-76CA-42B3-8278-CD5EFA5D1608}"/>
    <dgm:cxn modelId="{618B6FCA-7CF3-481A-93C3-6AFE14F2FF61}" type="presOf" srcId="{8B3E93F0-7103-4DD3-817F-5D3CFCB1C48C}" destId="{AB621415-4321-48EF-9694-79013787DEA0}" srcOrd="1" destOrd="0" presId="urn:microsoft.com/office/officeart/2005/8/layout/vProcess5"/>
    <dgm:cxn modelId="{76F488EB-80AB-4E95-8A76-28F71924A082}" type="presOf" srcId="{EDD3A9FF-DE20-4ED6-B60C-A52656DF3813}" destId="{A6B06613-92DE-4ADD-9E74-8B7C7F1F5B9D}" srcOrd="0" destOrd="0" presId="urn:microsoft.com/office/officeart/2005/8/layout/vProcess5"/>
    <dgm:cxn modelId="{79DFA2F2-D37D-4A1C-BE2F-6F6225303813}" srcId="{A2F63249-8033-4850-AB66-3A27107698D2}" destId="{4F5FD829-FFC4-402B-BD51-5D6B7DE59121}" srcOrd="0" destOrd="0" parTransId="{3660C729-E887-4376-A337-D36E2A6038C0}" sibTransId="{EDD3A9FF-DE20-4ED6-B60C-A52656DF3813}"/>
    <dgm:cxn modelId="{1EA323F5-60A1-4CCC-A9C8-8D76D0F29A26}" type="presOf" srcId="{4345621D-5CBB-49E9-91E6-C2D42B16EE3F}" destId="{1C90D6C2-9A19-47B9-8578-2357EC20E1C7}" srcOrd="1" destOrd="0" presId="urn:microsoft.com/office/officeart/2005/8/layout/vProcess5"/>
    <dgm:cxn modelId="{761E9EFC-A380-4EF1-98F9-6270B1093669}" type="presOf" srcId="{CD48D253-76CA-42B3-8278-CD5EFA5D1608}" destId="{F46CB580-199D-44F4-B330-50F167B18DB6}" srcOrd="0" destOrd="0" presId="urn:microsoft.com/office/officeart/2005/8/layout/vProcess5"/>
    <dgm:cxn modelId="{07D37BFF-A917-4935-96F7-9E780AFF2F3E}" srcId="{A2F63249-8033-4850-AB66-3A27107698D2}" destId="{99C79BC7-1C55-4626-8C31-67DE9C67AD07}" srcOrd="1" destOrd="0" parTransId="{2F8D7301-1204-4176-82EB-5AFAC035CB64}" sibTransId="{7E3FA616-4807-4F54-B6A3-590F7E8176EA}"/>
    <dgm:cxn modelId="{2E5A8990-023C-44C7-93F2-EF192F065E93}" type="presParOf" srcId="{52C66291-C79D-4841-8BC1-976549432EA0}" destId="{C9DC15E0-A049-4CE8-989E-7E93DBA140F2}" srcOrd="0" destOrd="0" presId="urn:microsoft.com/office/officeart/2005/8/layout/vProcess5"/>
    <dgm:cxn modelId="{7E867504-5C0C-4674-8A14-FCECB1E902C3}" type="presParOf" srcId="{52C66291-C79D-4841-8BC1-976549432EA0}" destId="{F9826A31-CFFB-4442-9E51-CD07943185C7}" srcOrd="1" destOrd="0" presId="urn:microsoft.com/office/officeart/2005/8/layout/vProcess5"/>
    <dgm:cxn modelId="{8D5C05E6-67E3-417E-8165-5CEFE873D786}" type="presParOf" srcId="{52C66291-C79D-4841-8BC1-976549432EA0}" destId="{A2D6ADFD-931D-4459-B0A0-365294F54043}" srcOrd="2" destOrd="0" presId="urn:microsoft.com/office/officeart/2005/8/layout/vProcess5"/>
    <dgm:cxn modelId="{39E77400-2AB4-4301-B640-0781AF0F25D5}" type="presParOf" srcId="{52C66291-C79D-4841-8BC1-976549432EA0}" destId="{B0402287-AFA8-4129-9B96-02CCB0281A09}" srcOrd="3" destOrd="0" presId="urn:microsoft.com/office/officeart/2005/8/layout/vProcess5"/>
    <dgm:cxn modelId="{B7D65559-38FF-42D2-B018-14DA982B030B}" type="presParOf" srcId="{52C66291-C79D-4841-8BC1-976549432EA0}" destId="{9F50272A-140D-4A80-841D-6EFBD7EBC039}" srcOrd="4" destOrd="0" presId="urn:microsoft.com/office/officeart/2005/8/layout/vProcess5"/>
    <dgm:cxn modelId="{01BD9313-E379-444E-A574-71D6D71AC5FC}" type="presParOf" srcId="{52C66291-C79D-4841-8BC1-976549432EA0}" destId="{A6B06613-92DE-4ADD-9E74-8B7C7F1F5B9D}" srcOrd="5" destOrd="0" presId="urn:microsoft.com/office/officeart/2005/8/layout/vProcess5"/>
    <dgm:cxn modelId="{8AD42EA2-BD61-4579-9116-05285D4986CD}" type="presParOf" srcId="{52C66291-C79D-4841-8BC1-976549432EA0}" destId="{C5418497-57C9-493D-B5D9-CE0EA4A0B564}" srcOrd="6" destOrd="0" presId="urn:microsoft.com/office/officeart/2005/8/layout/vProcess5"/>
    <dgm:cxn modelId="{D6A2DDE0-C4AB-456D-A781-38107B4FE854}" type="presParOf" srcId="{52C66291-C79D-4841-8BC1-976549432EA0}" destId="{F46CB580-199D-44F4-B330-50F167B18DB6}" srcOrd="7" destOrd="0" presId="urn:microsoft.com/office/officeart/2005/8/layout/vProcess5"/>
    <dgm:cxn modelId="{1CC29DEC-57A0-4362-AA80-64BE3853EC8F}" type="presParOf" srcId="{52C66291-C79D-4841-8BC1-976549432EA0}" destId="{DF22DF0D-4BC4-459D-9D2E-8DCDC738F128}" srcOrd="8" destOrd="0" presId="urn:microsoft.com/office/officeart/2005/8/layout/vProcess5"/>
    <dgm:cxn modelId="{96E4CCCC-08BF-4930-901B-5385DDC08682}" type="presParOf" srcId="{52C66291-C79D-4841-8BC1-976549432EA0}" destId="{B81CFD2C-C6AC-4FA2-B004-C40D0289BD0F}" srcOrd="9" destOrd="0" presId="urn:microsoft.com/office/officeart/2005/8/layout/vProcess5"/>
    <dgm:cxn modelId="{AC64E5B2-8F58-4FE9-8872-DF91D8663704}" type="presParOf" srcId="{52C66291-C79D-4841-8BC1-976549432EA0}" destId="{AB621415-4321-48EF-9694-79013787DEA0}" srcOrd="10" destOrd="0" presId="urn:microsoft.com/office/officeart/2005/8/layout/vProcess5"/>
    <dgm:cxn modelId="{1194E6D0-ABFD-40BC-B1F7-F59F18C7C01C}" type="presParOf" srcId="{52C66291-C79D-4841-8BC1-976549432EA0}" destId="{1C90D6C2-9A19-47B9-8578-2357EC20E1C7}" srcOrd="11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D087A17-0D42-4CEF-B7CD-FC3C72ABE4D1}">
      <dsp:nvSpPr>
        <dsp:cNvPr id="0" name=""/>
        <dsp:cNvSpPr/>
      </dsp:nvSpPr>
      <dsp:spPr>
        <a:xfrm>
          <a:off x="0" y="213"/>
          <a:ext cx="8190063" cy="59319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b="0" i="0" kern="1200" baseline="0"/>
            <a:t>Ishihara test služi za provjeru raspoznavanja boja</a:t>
          </a:r>
          <a:endParaRPr lang="en-US" sz="2600" kern="1200"/>
        </a:p>
      </dsp:txBody>
      <dsp:txXfrm>
        <a:off x="28957" y="29170"/>
        <a:ext cx="8132149" cy="535276"/>
      </dsp:txXfrm>
    </dsp:sp>
    <dsp:sp modelId="{691BC7A5-706E-4EB2-B8AE-93F288D8DED2}">
      <dsp:nvSpPr>
        <dsp:cNvPr id="0" name=""/>
        <dsp:cNvSpPr/>
      </dsp:nvSpPr>
      <dsp:spPr>
        <a:xfrm>
          <a:off x="0" y="668283"/>
          <a:ext cx="8190063" cy="59319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b="0" i="0" kern="1200" baseline="0"/>
            <a:t>Najčešće se koristi za otkrivanje daltonizma</a:t>
          </a:r>
          <a:endParaRPr lang="en-US" sz="2600" kern="1200"/>
        </a:p>
      </dsp:txBody>
      <dsp:txXfrm>
        <a:off x="28957" y="697240"/>
        <a:ext cx="8132149" cy="535276"/>
      </dsp:txXfrm>
    </dsp:sp>
    <dsp:sp modelId="{39531E36-7D8F-47EA-A0C3-0EC4D880E961}">
      <dsp:nvSpPr>
        <dsp:cNvPr id="0" name=""/>
        <dsp:cNvSpPr/>
      </dsp:nvSpPr>
      <dsp:spPr>
        <a:xfrm>
          <a:off x="0" y="1336353"/>
          <a:ext cx="8190063" cy="59319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b="0" i="0" kern="1200" baseline="0"/>
            <a:t>Test se sastoji od slika s brojevima od točkica</a:t>
          </a:r>
          <a:endParaRPr lang="en-US" sz="2600" kern="1200"/>
        </a:p>
      </dsp:txBody>
      <dsp:txXfrm>
        <a:off x="28957" y="1365310"/>
        <a:ext cx="8132149" cy="535276"/>
      </dsp:txXfrm>
    </dsp:sp>
    <dsp:sp modelId="{7695EFDA-3E50-45CA-B6B5-B2BAE84B5C1B}">
      <dsp:nvSpPr>
        <dsp:cNvPr id="0" name=""/>
        <dsp:cNvSpPr/>
      </dsp:nvSpPr>
      <dsp:spPr>
        <a:xfrm>
          <a:off x="0" y="2004423"/>
          <a:ext cx="8190063" cy="59319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b="0" i="0" kern="1200" baseline="0"/>
            <a:t>Korisnik pokušava prepoznati broj</a:t>
          </a:r>
          <a:endParaRPr lang="en-US" sz="2600" kern="1200"/>
        </a:p>
      </dsp:txBody>
      <dsp:txXfrm>
        <a:off x="28957" y="2033380"/>
        <a:ext cx="8132149" cy="53527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9826A31-CFFB-4442-9E51-CD07943185C7}">
      <dsp:nvSpPr>
        <dsp:cNvPr id="0" name=""/>
        <dsp:cNvSpPr/>
      </dsp:nvSpPr>
      <dsp:spPr>
        <a:xfrm>
          <a:off x="0" y="0"/>
          <a:ext cx="7924799" cy="788667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4000"/>
                <a:satMod val="105000"/>
                <a:lumMod val="102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74000"/>
                <a:satMod val="128000"/>
                <a:lumMod val="100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b="0" i="0" kern="1200" baseline="0"/>
            <a:t>VSC A11Y olakšava rad s kodom</a:t>
          </a:r>
          <a:endParaRPr lang="en-US" sz="3000" kern="1200"/>
        </a:p>
      </dsp:txBody>
      <dsp:txXfrm>
        <a:off x="23099" y="23099"/>
        <a:ext cx="7007124" cy="742469"/>
      </dsp:txXfrm>
    </dsp:sp>
    <dsp:sp modelId="{A2D6ADFD-931D-4459-B0A0-365294F54043}">
      <dsp:nvSpPr>
        <dsp:cNvPr id="0" name=""/>
        <dsp:cNvSpPr/>
      </dsp:nvSpPr>
      <dsp:spPr>
        <a:xfrm>
          <a:off x="663701" y="932061"/>
          <a:ext cx="7924799" cy="788667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-489677"/>
                <a:satOff val="-10832"/>
                <a:lumOff val="-2157"/>
                <a:alphaOff val="0"/>
                <a:tint val="94000"/>
                <a:satMod val="105000"/>
                <a:lumMod val="102000"/>
              </a:schemeClr>
            </a:gs>
            <a:gs pos="100000">
              <a:schemeClr val="accent2">
                <a:hueOff val="-489677"/>
                <a:satOff val="-10832"/>
                <a:lumOff val="-2157"/>
                <a:alphaOff val="0"/>
                <a:shade val="74000"/>
                <a:satMod val="128000"/>
                <a:lumMod val="100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b="0" i="0" kern="1200" baseline="0"/>
            <a:t>Posebno pomaže osobama s daltonizmom</a:t>
          </a:r>
          <a:endParaRPr lang="en-US" sz="3000" kern="1200"/>
        </a:p>
      </dsp:txBody>
      <dsp:txXfrm>
        <a:off x="686800" y="955160"/>
        <a:ext cx="6702265" cy="742469"/>
      </dsp:txXfrm>
    </dsp:sp>
    <dsp:sp modelId="{B0402287-AFA8-4129-9B96-02CCB0281A09}">
      <dsp:nvSpPr>
        <dsp:cNvPr id="0" name=""/>
        <dsp:cNvSpPr/>
      </dsp:nvSpPr>
      <dsp:spPr>
        <a:xfrm>
          <a:off x="1317497" y="1864122"/>
          <a:ext cx="7924799" cy="788667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-979354"/>
                <a:satOff val="-21663"/>
                <a:lumOff val="-4313"/>
                <a:alphaOff val="0"/>
                <a:tint val="94000"/>
                <a:satMod val="105000"/>
                <a:lumMod val="102000"/>
              </a:schemeClr>
            </a:gs>
            <a:gs pos="100000">
              <a:schemeClr val="accent2">
                <a:hueOff val="-979354"/>
                <a:satOff val="-21663"/>
                <a:lumOff val="-4313"/>
                <a:alphaOff val="0"/>
                <a:shade val="74000"/>
                <a:satMod val="128000"/>
                <a:lumMod val="100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b="0" i="0" kern="1200" baseline="0"/>
            <a:t>Projekt pokazuje važnost pristupačnosti</a:t>
          </a:r>
          <a:endParaRPr lang="en-US" sz="3000" kern="1200"/>
        </a:p>
      </dsp:txBody>
      <dsp:txXfrm>
        <a:off x="1340596" y="1887221"/>
        <a:ext cx="6712171" cy="742468"/>
      </dsp:txXfrm>
    </dsp:sp>
    <dsp:sp modelId="{9F50272A-140D-4A80-841D-6EFBD7EBC039}">
      <dsp:nvSpPr>
        <dsp:cNvPr id="0" name=""/>
        <dsp:cNvSpPr/>
      </dsp:nvSpPr>
      <dsp:spPr>
        <a:xfrm>
          <a:off x="1981199" y="2796183"/>
          <a:ext cx="7924799" cy="788667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-1469031"/>
                <a:satOff val="-32495"/>
                <a:lumOff val="-6470"/>
                <a:alphaOff val="0"/>
                <a:tint val="94000"/>
                <a:satMod val="105000"/>
                <a:lumMod val="102000"/>
              </a:schemeClr>
            </a:gs>
            <a:gs pos="100000">
              <a:schemeClr val="accent2">
                <a:hueOff val="-1469031"/>
                <a:satOff val="-32495"/>
                <a:lumOff val="-6470"/>
                <a:alphaOff val="0"/>
                <a:shade val="74000"/>
                <a:satMod val="128000"/>
                <a:lumMod val="100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b="0" i="0" kern="1200" baseline="0"/>
            <a:t>Mali alati mogu napraviti veliku razliku</a:t>
          </a:r>
          <a:endParaRPr lang="en-US" sz="3000" kern="1200"/>
        </a:p>
      </dsp:txBody>
      <dsp:txXfrm>
        <a:off x="2004298" y="2819282"/>
        <a:ext cx="6702265" cy="742468"/>
      </dsp:txXfrm>
    </dsp:sp>
    <dsp:sp modelId="{A6B06613-92DE-4ADD-9E74-8B7C7F1F5B9D}">
      <dsp:nvSpPr>
        <dsp:cNvPr id="0" name=""/>
        <dsp:cNvSpPr/>
      </dsp:nvSpPr>
      <dsp:spPr>
        <a:xfrm>
          <a:off x="7412165" y="604047"/>
          <a:ext cx="512633" cy="512633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1750" tIns="31750" rIns="31750" bIns="317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500" kern="1200"/>
        </a:p>
      </dsp:txBody>
      <dsp:txXfrm>
        <a:off x="7527507" y="604047"/>
        <a:ext cx="281949" cy="385756"/>
      </dsp:txXfrm>
    </dsp:sp>
    <dsp:sp modelId="{C5418497-57C9-493D-B5D9-CE0EA4A0B564}">
      <dsp:nvSpPr>
        <dsp:cNvPr id="0" name=""/>
        <dsp:cNvSpPr/>
      </dsp:nvSpPr>
      <dsp:spPr>
        <a:xfrm>
          <a:off x="8075867" y="1536108"/>
          <a:ext cx="512633" cy="512633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-597868"/>
            <a:satOff val="-21282"/>
            <a:lumOff val="-1353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-597868"/>
              <a:satOff val="-21282"/>
              <a:lumOff val="-1353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1750" tIns="31750" rIns="31750" bIns="317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500" kern="1200"/>
        </a:p>
      </dsp:txBody>
      <dsp:txXfrm>
        <a:off x="8191209" y="1536108"/>
        <a:ext cx="281949" cy="385756"/>
      </dsp:txXfrm>
    </dsp:sp>
    <dsp:sp modelId="{F46CB580-199D-44F4-B330-50F167B18DB6}">
      <dsp:nvSpPr>
        <dsp:cNvPr id="0" name=""/>
        <dsp:cNvSpPr/>
      </dsp:nvSpPr>
      <dsp:spPr>
        <a:xfrm>
          <a:off x="8729663" y="2468169"/>
          <a:ext cx="512633" cy="512633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-1195736"/>
            <a:satOff val="-42564"/>
            <a:lumOff val="-2706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-1195736"/>
              <a:satOff val="-42564"/>
              <a:lumOff val="-2706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1750" tIns="31750" rIns="31750" bIns="317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500" kern="1200"/>
        </a:p>
      </dsp:txBody>
      <dsp:txXfrm>
        <a:off x="8845005" y="2468169"/>
        <a:ext cx="281949" cy="38575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6733B157-BC8D-485A-B099-210699CD19FB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5642A519-FA09-43B2-9E2D-F8E5BFDE6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49598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B157-BC8D-485A-B099-210699CD19FB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42A519-FA09-43B2-9E2D-F8E5BFDE6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93704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B157-BC8D-485A-B099-210699CD19FB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42A519-FA09-43B2-9E2D-F8E5BFDE6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84990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B157-BC8D-485A-B099-210699CD19FB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42A519-FA09-43B2-9E2D-F8E5BFDE6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7054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B157-BC8D-485A-B099-210699CD19FB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42A519-FA09-43B2-9E2D-F8E5BFDE6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915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B157-BC8D-485A-B099-210699CD19FB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42A519-FA09-43B2-9E2D-F8E5BFDE6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34010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B157-BC8D-485A-B099-210699CD19FB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42A519-FA09-43B2-9E2D-F8E5BFDE6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64678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B157-BC8D-485A-B099-210699CD19FB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42A519-FA09-43B2-9E2D-F8E5BFDE6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18155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B157-BC8D-485A-B099-210699CD19FB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42A519-FA09-43B2-9E2D-F8E5BFDE6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83320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B157-BC8D-485A-B099-210699CD19FB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42A519-FA09-43B2-9E2D-F8E5BFDE6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5983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B157-BC8D-485A-B099-210699CD19FB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42A519-FA09-43B2-9E2D-F8E5BFDE6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38474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B157-BC8D-485A-B099-210699CD19FB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42A519-FA09-43B2-9E2D-F8E5BFDE64B1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2451550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B157-BC8D-485A-B099-210699CD19FB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42A519-FA09-43B2-9E2D-F8E5BFDE6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06218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B157-BC8D-485A-B099-210699CD19FB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42A519-FA09-43B2-9E2D-F8E5BFDE6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31943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B157-BC8D-485A-B099-210699CD19FB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42A519-FA09-43B2-9E2D-F8E5BFDE6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071677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B157-BC8D-485A-B099-210699CD19FB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42A519-FA09-43B2-9E2D-F8E5BFDE6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99080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B157-BC8D-485A-B099-210699CD19FB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42A519-FA09-43B2-9E2D-F8E5BFDE6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99769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733B157-BC8D-485A-B099-210699CD19FB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42A519-FA09-43B2-9E2D-F8E5BFDE6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815826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svg"/><Relationship Id="rId7" Type="http://schemas.openxmlformats.org/officeDocument/2006/relationships/image" Target="../media/image11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7" Type="http://schemas.openxmlformats.org/officeDocument/2006/relationships/image" Target="../media/image13.jp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7DFB97-23DC-DEF4-E179-FCDC19A1772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r-HR" dirty="0"/>
              <a:t>VSC A11Y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81F6705-ED7D-AA9A-072F-1BBC3D7CA58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r-HR" dirty="0"/>
              <a:t>Mateo Štefanek, Leon </a:t>
            </a:r>
            <a:r>
              <a:rPr lang="hr-HR" dirty="0" err="1"/>
              <a:t>Žlender</a:t>
            </a:r>
            <a:r>
              <a:rPr lang="hr-HR" dirty="0"/>
              <a:t>, Filip </a:t>
            </a:r>
            <a:r>
              <a:rPr lang="hr-HR" dirty="0" err="1"/>
              <a:t>Udovčić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49065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A0B38558-5389-4817-936F-FD62560CAC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1"/>
            <a:ext cx="12192003" cy="6858001"/>
            <a:chOff x="0" y="-1"/>
            <a:chExt cx="12192003" cy="6858001"/>
          </a:xfrm>
        </p:grpSpPr>
        <p:sp useBgFill="1">
          <p:nvSpPr>
            <p:cNvPr id="12" name="Rectangle 11">
              <a:extLst>
                <a:ext uri="{FF2B5EF4-FFF2-40B4-BE49-F238E27FC236}">
                  <a16:creationId xmlns:a16="http://schemas.microsoft.com/office/drawing/2014/main" id="{CCB252B9-42EF-4414-AA22-2A95C18197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" y="-1"/>
              <a:ext cx="121920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3" name="Picture 2">
              <a:extLst>
                <a:ext uri="{FF2B5EF4-FFF2-40B4-BE49-F238E27FC236}">
                  <a16:creationId xmlns:a16="http://schemas.microsoft.com/office/drawing/2014/main" id="{F9C2C800-C3E3-4317-A3CC-1558D71F14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 noChangeArrowheads="1"/>
            </p:cNvPic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PicPr>
          <p:blipFill>
            <a:blip r:embed="rId3">
              <a:alphaModFix amt="30000"/>
              <a:duotone>
                <a:prstClr val="black"/>
                <a:schemeClr val="tx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-1"/>
              <a:ext cx="12192003" cy="6858001"/>
            </a:xfrm>
            <a:prstGeom prst="rect">
              <a:avLst/>
            </a:prstGeom>
            <a:noFill/>
            <a:extLst>
              <a:ext uri="{909E8E84-426E-40dd-AFC4-6F175D3DCCD1}">
                <a14:hiddenFill xmlns="" xmlns:a16="http://schemas.microsoft.com/office/drawing/2014/main" xmlns:a14="http://schemas.microsoft.com/office/drawing/2010/main" xmlns:p14="http://schemas.microsoft.com/office/powerpoint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96D7A134-69FE-FA4E-1FBD-B797D7F1B0A8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768"/>
          <a:stretch>
            <a:fillRect/>
          </a:stretch>
        </p:blipFill>
        <p:spPr>
          <a:xfrm>
            <a:off x="3611" y="10"/>
            <a:ext cx="12188389" cy="6857990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15502586-682B-4EDF-9515-674BB4E1CD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72533" y="0"/>
            <a:ext cx="11455400" cy="6848476"/>
            <a:chOff x="372533" y="0"/>
            <a:chExt cx="11455400" cy="6848476"/>
          </a:xfrm>
        </p:grpSpPr>
        <p:sp>
          <p:nvSpPr>
            <p:cNvPr id="16" name="Round Diagonal Corner Rectangle 7">
              <a:extLst>
                <a:ext uri="{FF2B5EF4-FFF2-40B4-BE49-F238E27FC236}">
                  <a16:creationId xmlns:a16="http://schemas.microsoft.com/office/drawing/2014/main" id="{C4491F87-B86B-413A-ACCD-56525E5330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22867" y="766234"/>
              <a:ext cx="10346266" cy="5325532"/>
            </a:xfrm>
            <a:prstGeom prst="round2DiagRect">
              <a:avLst>
                <a:gd name="adj1" fmla="val 4147"/>
                <a:gd name="adj2" fmla="val 0"/>
              </a:avLst>
            </a:prstGeom>
            <a:solidFill>
              <a:schemeClr val="bg1">
                <a:alpha val="80000"/>
              </a:schemeClr>
            </a:solidFill>
            <a:ln w="19050" cap="sq">
              <a:solidFill>
                <a:schemeClr val="tx2">
                  <a:alpha val="60000"/>
                </a:schemeClr>
              </a:solidFill>
              <a:miter lim="800000"/>
            </a:ln>
            <a:effectLst>
              <a:outerShdw blurRad="889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04A25545-7FDA-465A-8546-9D927F8286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11085512" y="0"/>
              <a:ext cx="650875" cy="1730375"/>
              <a:chOff x="11347978" y="0"/>
              <a:chExt cx="650875" cy="1730375"/>
            </a:xfrm>
          </p:grpSpPr>
          <p:sp>
            <p:nvSpPr>
              <p:cNvPr id="37" name="Freeform 32">
                <a:extLst>
                  <a:ext uri="{FF2B5EF4-FFF2-40B4-BE49-F238E27FC236}">
                    <a16:creationId xmlns:a16="http://schemas.microsoft.com/office/drawing/2014/main" id="{0AC67F09-E0D9-410A-A4DE-72D31697EBC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67041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" name="Freeform 33">
                <a:extLst>
                  <a:ext uri="{FF2B5EF4-FFF2-40B4-BE49-F238E27FC236}">
                    <a16:creationId xmlns:a16="http://schemas.microsoft.com/office/drawing/2014/main" id="{B78F2FDE-85C9-4650-919F-C35464007D7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347978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" name="Freeform 34">
                <a:extLst>
                  <a:ext uri="{FF2B5EF4-FFF2-40B4-BE49-F238E27FC236}">
                    <a16:creationId xmlns:a16="http://schemas.microsoft.com/office/drawing/2014/main" id="{57DD2F8B-5242-455C-B03F-E2F6B6732EF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14678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" name="Freeform 37">
                <a:extLst>
                  <a:ext uri="{FF2B5EF4-FFF2-40B4-BE49-F238E27FC236}">
                    <a16:creationId xmlns:a16="http://schemas.microsoft.com/office/drawing/2014/main" id="{B8CE3E90-8A76-4CD5-B28C-D71FF37185D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94053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C374541-D033-4B72-A232-5461EEAD4D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flipH="1">
              <a:off x="11229445" y="4867275"/>
              <a:ext cx="598488" cy="1981201"/>
              <a:chOff x="11424178" y="4867275"/>
              <a:chExt cx="598488" cy="1981201"/>
            </a:xfrm>
          </p:grpSpPr>
          <p:sp>
            <p:nvSpPr>
              <p:cNvPr id="31" name="Freeform 35">
                <a:extLst>
                  <a:ext uri="{FF2B5EF4-FFF2-40B4-BE49-F238E27FC236}">
                    <a16:creationId xmlns:a16="http://schemas.microsoft.com/office/drawing/2014/main" id="{94766BAB-FE6E-4247-886B-736F831FEB3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514666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" name="Freeform 36">
                <a:extLst>
                  <a:ext uri="{FF2B5EF4-FFF2-40B4-BE49-F238E27FC236}">
                    <a16:creationId xmlns:a16="http://schemas.microsoft.com/office/drawing/2014/main" id="{3C954FB2-C7A0-468C-8AD2-C278DCA6421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55966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" name="Freeform 38">
                <a:extLst>
                  <a:ext uri="{FF2B5EF4-FFF2-40B4-BE49-F238E27FC236}">
                    <a16:creationId xmlns:a16="http://schemas.microsoft.com/office/drawing/2014/main" id="{F52FBFD5-A528-4DB8-A802-814A7E421D6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19441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" name="Freeform 39">
                <a:extLst>
                  <a:ext uri="{FF2B5EF4-FFF2-40B4-BE49-F238E27FC236}">
                    <a16:creationId xmlns:a16="http://schemas.microsoft.com/office/drawing/2014/main" id="{E57CCB6D-72AF-4D41-8C6C-9750D43DC60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24178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" name="Freeform 40">
                <a:extLst>
                  <a:ext uri="{FF2B5EF4-FFF2-40B4-BE49-F238E27FC236}">
                    <a16:creationId xmlns:a16="http://schemas.microsoft.com/office/drawing/2014/main" id="{19D203AA-CF94-405B-800C-0C798552188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832166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" name="Rectangle 41">
                <a:extLst>
                  <a:ext uri="{FF2B5EF4-FFF2-40B4-BE49-F238E27FC236}">
                    <a16:creationId xmlns:a16="http://schemas.microsoft.com/office/drawing/2014/main" id="{7D053665-E810-419F-9D63-2A54CB47738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922653" y="6596063"/>
                <a:ext cx="23813" cy="252413"/>
              </a:xfrm>
              <a:prstGeom prst="rect">
                <a:avLst/>
              </a:pr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DEAF6153-6BF6-448C-81C1-2817B0F780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flipH="1">
              <a:off x="440267" y="5118101"/>
              <a:ext cx="650875" cy="1730375"/>
              <a:chOff x="118533" y="5118101"/>
              <a:chExt cx="650875" cy="1730375"/>
            </a:xfrm>
          </p:grpSpPr>
          <p:sp>
            <p:nvSpPr>
              <p:cNvPr id="27" name="Freeform 32">
                <a:extLst>
                  <a:ext uri="{FF2B5EF4-FFF2-40B4-BE49-F238E27FC236}">
                    <a16:creationId xmlns:a16="http://schemas.microsoft.com/office/drawing/2014/main" id="{A7E0D3C0-552C-4741-AFBE-E665CEA0689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237596" y="6335713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" name="Freeform 33">
                <a:extLst>
                  <a:ext uri="{FF2B5EF4-FFF2-40B4-BE49-F238E27FC236}">
                    <a16:creationId xmlns:a16="http://schemas.microsoft.com/office/drawing/2014/main" id="{CAF96EBF-4E74-4F88-BD05-A4AE1694A45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118533" y="622141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" name="Freeform 34">
                <a:extLst>
                  <a:ext uri="{FF2B5EF4-FFF2-40B4-BE49-F238E27FC236}">
                    <a16:creationId xmlns:a16="http://schemas.microsoft.com/office/drawing/2014/main" id="{D49C51B9-E4E4-410D-8AAB-7E308A1D452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385233" y="5118101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" name="Freeform 37">
                <a:extLst>
                  <a:ext uri="{FF2B5EF4-FFF2-40B4-BE49-F238E27FC236}">
                    <a16:creationId xmlns:a16="http://schemas.microsoft.com/office/drawing/2014/main" id="{354F0627-1BD6-4455-967A-32DB31C82C3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464608" y="5299075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BC21AED9-0CB5-426C-A1C4-6EEB548050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372533" y="0"/>
              <a:ext cx="598488" cy="1981201"/>
              <a:chOff x="194733" y="0"/>
              <a:chExt cx="598488" cy="1981201"/>
            </a:xfrm>
          </p:grpSpPr>
          <p:sp>
            <p:nvSpPr>
              <p:cNvPr id="21" name="Freeform 35">
                <a:extLst>
                  <a:ext uri="{FF2B5EF4-FFF2-40B4-BE49-F238E27FC236}">
                    <a16:creationId xmlns:a16="http://schemas.microsoft.com/office/drawing/2014/main" id="{8D8A778B-9916-47AC-A28A-07F01A83F49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285221" y="0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" name="Freeform 36">
                <a:extLst>
                  <a:ext uri="{FF2B5EF4-FFF2-40B4-BE49-F238E27FC236}">
                    <a16:creationId xmlns:a16="http://schemas.microsoft.com/office/drawing/2014/main" id="{65323B96-DF0E-463C-B290-C22D3C55324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526521" y="1141413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" name="Freeform 38">
                <a:extLst>
                  <a:ext uri="{FF2B5EF4-FFF2-40B4-BE49-F238E27FC236}">
                    <a16:creationId xmlns:a16="http://schemas.microsoft.com/office/drawing/2014/main" id="{65A0E255-1142-422E-A62A-5044177C5AE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389996" y="1792288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" name="Freeform 39">
                <a:extLst>
                  <a:ext uri="{FF2B5EF4-FFF2-40B4-BE49-F238E27FC236}">
                    <a16:creationId xmlns:a16="http://schemas.microsoft.com/office/drawing/2014/main" id="{233A955D-DB0D-42F8-B490-E01FB9C45C3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194733" y="0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" name="Freeform 40">
                <a:extLst>
                  <a:ext uri="{FF2B5EF4-FFF2-40B4-BE49-F238E27FC236}">
                    <a16:creationId xmlns:a16="http://schemas.microsoft.com/office/drawing/2014/main" id="{F0F0C29B-EB52-470C-AF64-FC54F5C250F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602721" y="24288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" name="Rectangle 41">
                <a:extLst>
                  <a:ext uri="{FF2B5EF4-FFF2-40B4-BE49-F238E27FC236}">
                    <a16:creationId xmlns:a16="http://schemas.microsoft.com/office/drawing/2014/main" id="{A6C0E942-454D-483D-84FB-89308C8F15B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693208" y="0"/>
                <a:ext cx="23813" cy="252413"/>
              </a:xfrm>
              <a:prstGeom prst="rect">
                <a:avLst/>
              </a:pr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B8D6EE9-CE76-760F-2EC5-8AACAFBA15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1007533"/>
            <a:ext cx="9905998" cy="1092200"/>
          </a:xfrm>
        </p:spPr>
        <p:txBody>
          <a:bodyPr>
            <a:normAutofit/>
          </a:bodyPr>
          <a:lstStyle/>
          <a:p>
            <a:pPr algn="ctr"/>
            <a:r>
              <a:rPr lang="hr-HR" dirty="0"/>
              <a:t>UVOD</a:t>
            </a:r>
            <a:endParaRPr lang="en-US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4EB338E6-8192-658A-8881-68FDE829193F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143001" y="2252134"/>
            <a:ext cx="9905999" cy="3454399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Programiranje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je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često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vizualno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zahtjevno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Kod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sadrži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puno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linija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,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simbola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i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boja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Osobe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sa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slabijim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vidom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ili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daltonizmom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imaju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dodatne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poteškoće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Pristupačnost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u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razvojnim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okruženjima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je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jako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važna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12640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74872A0B-8668-4500-9509-EAA581B26C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1"/>
            <a:ext cx="12192003" cy="6858001"/>
            <a:chOff x="0" y="-1"/>
            <a:chExt cx="12192003" cy="6858001"/>
          </a:xfrm>
        </p:grpSpPr>
        <p:sp useBgFill="1">
          <p:nvSpPr>
            <p:cNvPr id="144" name="Rectangle 143">
              <a:extLst>
                <a:ext uri="{FF2B5EF4-FFF2-40B4-BE49-F238E27FC236}">
                  <a16:creationId xmlns:a16="http://schemas.microsoft.com/office/drawing/2014/main" id="{8B504305-5526-408E-85F7-F0BA7E527C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" y="-1"/>
              <a:ext cx="121920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3" name="Picture 2">
              <a:extLst>
                <a:ext uri="{FF2B5EF4-FFF2-40B4-BE49-F238E27FC236}">
                  <a16:creationId xmlns:a16="http://schemas.microsoft.com/office/drawing/2014/main" id="{5827CE64-2533-45A6-9A39-7D5052E5CE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 noChangeArrowheads="1"/>
            </p:cNvPic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PicPr>
          <p:blipFill>
            <a:blip r:embed="rId3">
              <a:alphaModFix amt="30000"/>
              <a:duotone>
                <a:prstClr val="black"/>
                <a:schemeClr val="tx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-1"/>
              <a:ext cx="12192003" cy="6858001"/>
            </a:xfrm>
            <a:prstGeom prst="rect">
              <a:avLst/>
            </a:prstGeom>
            <a:noFill/>
            <a:extLst>
              <a:ext uri="{909E8E84-426E-40dd-AFC4-6F175D3DCCD1}">
                <a14:hiddenFill xmlns="" xmlns:a16="http://schemas.microsoft.com/office/drawing/2014/main" xmlns:a14="http://schemas.microsoft.com/office/drawing/2010/main" xmlns:p14="http://schemas.microsoft.com/office/powerpoint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1D1DA22F-9667-9D25-5460-E14ED76FEB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48425" y="618518"/>
            <a:ext cx="4598985" cy="1478570"/>
          </a:xfrm>
        </p:spPr>
        <p:txBody>
          <a:bodyPr>
            <a:normAutofit/>
          </a:bodyPr>
          <a:lstStyle/>
          <a:p>
            <a:r>
              <a:rPr lang="hr-HR" dirty="0"/>
              <a:t>PROBLEM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9510B1C-CBDC-5ECE-6E92-CB04EA2E3F2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829" r="26906"/>
          <a:stretch>
            <a:fillRect/>
          </a:stretch>
        </p:blipFill>
        <p:spPr>
          <a:xfrm>
            <a:off x="-5597" y="10"/>
            <a:ext cx="6101597" cy="6857990"/>
          </a:xfrm>
          <a:prstGeom prst="rect">
            <a:avLst/>
          </a:prstGeom>
        </p:spPr>
      </p:pic>
      <p:grpSp>
        <p:nvGrpSpPr>
          <p:cNvPr id="145" name="Group 144">
            <a:extLst>
              <a:ext uri="{FF2B5EF4-FFF2-40B4-BE49-F238E27FC236}">
                <a16:creationId xmlns:a16="http://schemas.microsoft.com/office/drawing/2014/main" id="{240590EE-5428-41AA-95B2-96FCC1CE67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2305051" cy="6858001"/>
            <a:chOff x="0" y="0"/>
            <a:chExt cx="2305051" cy="6858001"/>
          </a:xfrm>
          <a:solidFill>
            <a:schemeClr val="tx1">
              <a:alpha val="70000"/>
            </a:schemeClr>
          </a:solidFill>
          <a:effectLst/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494DCC55-99C6-45CF-B357-E3848C80934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6">
              <a:extLst>
                <a:ext uri="{FF2B5EF4-FFF2-40B4-BE49-F238E27FC236}">
                  <a16:creationId xmlns:a16="http://schemas.microsoft.com/office/drawing/2014/main" id="{63D64E32-FF0C-4665-B9D8-D1ECAAE5BA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7">
              <a:extLst>
                <a:ext uri="{FF2B5EF4-FFF2-40B4-BE49-F238E27FC236}">
                  <a16:creationId xmlns:a16="http://schemas.microsoft.com/office/drawing/2014/main" id="{3675001D-3840-4589-8190-505A7F52F0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19E34E87-395F-4023-A80E-D1CBAAEBD9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9">
              <a:extLst>
                <a:ext uri="{FF2B5EF4-FFF2-40B4-BE49-F238E27FC236}">
                  <a16:creationId xmlns:a16="http://schemas.microsoft.com/office/drawing/2014/main" id="{6FB1B38F-1B92-41C3-AA1D-6D6440FB0D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10">
              <a:extLst>
                <a:ext uri="{FF2B5EF4-FFF2-40B4-BE49-F238E27FC236}">
                  <a16:creationId xmlns:a16="http://schemas.microsoft.com/office/drawing/2014/main" id="{02FBE453-FBD2-4348-8DDA-4A023444EC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11">
              <a:extLst>
                <a:ext uri="{FF2B5EF4-FFF2-40B4-BE49-F238E27FC236}">
                  <a16:creationId xmlns:a16="http://schemas.microsoft.com/office/drawing/2014/main" id="{60D719E8-BF78-4F42-B9D1-7F5E02A369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 12">
              <a:extLst>
                <a:ext uri="{FF2B5EF4-FFF2-40B4-BE49-F238E27FC236}">
                  <a16:creationId xmlns:a16="http://schemas.microsoft.com/office/drawing/2014/main" id="{5EC70737-9C19-4CF5-84DA-B22A960D53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Freeform 13">
              <a:extLst>
                <a:ext uri="{FF2B5EF4-FFF2-40B4-BE49-F238E27FC236}">
                  <a16:creationId xmlns:a16="http://schemas.microsoft.com/office/drawing/2014/main" id="{88FD042E-E56E-4360-9620-F811AB9A33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14">
              <a:extLst>
                <a:ext uri="{FF2B5EF4-FFF2-40B4-BE49-F238E27FC236}">
                  <a16:creationId xmlns:a16="http://schemas.microsoft.com/office/drawing/2014/main" id="{18F15D2B-0812-46F6-B0F4-6A6714B543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15">
              <a:extLst>
                <a:ext uri="{FF2B5EF4-FFF2-40B4-BE49-F238E27FC236}">
                  <a16:creationId xmlns:a16="http://schemas.microsoft.com/office/drawing/2014/main" id="{0C2F2A50-98DD-4F92-BDFE-B72E235766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16">
              <a:extLst>
                <a:ext uri="{FF2B5EF4-FFF2-40B4-BE49-F238E27FC236}">
                  <a16:creationId xmlns:a16="http://schemas.microsoft.com/office/drawing/2014/main" id="{473541D9-6DAE-4718-97D4-8952F4E7CC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17">
              <a:extLst>
                <a:ext uri="{FF2B5EF4-FFF2-40B4-BE49-F238E27FC236}">
                  <a16:creationId xmlns:a16="http://schemas.microsoft.com/office/drawing/2014/main" id="{3A56C5E9-011C-44D2-AF94-3BF5420433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18">
              <a:extLst>
                <a:ext uri="{FF2B5EF4-FFF2-40B4-BE49-F238E27FC236}">
                  <a16:creationId xmlns:a16="http://schemas.microsoft.com/office/drawing/2014/main" id="{CD279E0E-1CD5-4F41-96A5-3A09707E81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19">
              <a:extLst>
                <a:ext uri="{FF2B5EF4-FFF2-40B4-BE49-F238E27FC236}">
                  <a16:creationId xmlns:a16="http://schemas.microsoft.com/office/drawing/2014/main" id="{F5A6F094-9E54-4985-8738-D2067A4F07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20">
              <a:extLst>
                <a:ext uri="{FF2B5EF4-FFF2-40B4-BE49-F238E27FC236}">
                  <a16:creationId xmlns:a16="http://schemas.microsoft.com/office/drawing/2014/main" id="{99D51F59-FA93-490E-B9CF-97BB63747C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21">
              <a:extLst>
                <a:ext uri="{FF2B5EF4-FFF2-40B4-BE49-F238E27FC236}">
                  <a16:creationId xmlns:a16="http://schemas.microsoft.com/office/drawing/2014/main" id="{3CD83DC6-F4A0-4A4D-AAC3-83983F960D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22">
              <a:extLst>
                <a:ext uri="{FF2B5EF4-FFF2-40B4-BE49-F238E27FC236}">
                  <a16:creationId xmlns:a16="http://schemas.microsoft.com/office/drawing/2014/main" id="{6E9B4028-C74F-4631-8312-68B30E6E62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23">
              <a:extLst>
                <a:ext uri="{FF2B5EF4-FFF2-40B4-BE49-F238E27FC236}">
                  <a16:creationId xmlns:a16="http://schemas.microsoft.com/office/drawing/2014/main" id="{1E3337C9-1DDE-4E2E-8519-7D2C23C95F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24">
              <a:extLst>
                <a:ext uri="{FF2B5EF4-FFF2-40B4-BE49-F238E27FC236}">
                  <a16:creationId xmlns:a16="http://schemas.microsoft.com/office/drawing/2014/main" id="{754A526E-6EC0-458A-9C4C-008F6749CD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Freeform 25">
              <a:extLst>
                <a:ext uri="{FF2B5EF4-FFF2-40B4-BE49-F238E27FC236}">
                  <a16:creationId xmlns:a16="http://schemas.microsoft.com/office/drawing/2014/main" id="{6A3DA723-7448-48CF-8BD2-FED2D4FED5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Freeform 26">
              <a:extLst>
                <a:ext uri="{FF2B5EF4-FFF2-40B4-BE49-F238E27FC236}">
                  <a16:creationId xmlns:a16="http://schemas.microsoft.com/office/drawing/2014/main" id="{9B506EC1-D8A8-4532-B78B-A236567EE0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Freeform 27">
              <a:extLst>
                <a:ext uri="{FF2B5EF4-FFF2-40B4-BE49-F238E27FC236}">
                  <a16:creationId xmlns:a16="http://schemas.microsoft.com/office/drawing/2014/main" id="{AA9DFB36-74F4-4977-ABC5-3257EDA331B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28">
              <a:extLst>
                <a:ext uri="{FF2B5EF4-FFF2-40B4-BE49-F238E27FC236}">
                  <a16:creationId xmlns:a16="http://schemas.microsoft.com/office/drawing/2014/main" id="{966A7FBA-BB79-4AF0-90C2-5F2BC9F2D1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Freeform 29">
              <a:extLst>
                <a:ext uri="{FF2B5EF4-FFF2-40B4-BE49-F238E27FC236}">
                  <a16:creationId xmlns:a16="http://schemas.microsoft.com/office/drawing/2014/main" id="{23BB8A47-FF1B-44E5-8D93-7ADF37F1D7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Freeform 30">
              <a:extLst>
                <a:ext uri="{FF2B5EF4-FFF2-40B4-BE49-F238E27FC236}">
                  <a16:creationId xmlns:a16="http://schemas.microsoft.com/office/drawing/2014/main" id="{E463E1B7-7BED-4425-95B7-F6F75F8733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Freeform 31">
              <a:extLst>
                <a:ext uri="{FF2B5EF4-FFF2-40B4-BE49-F238E27FC236}">
                  <a16:creationId xmlns:a16="http://schemas.microsoft.com/office/drawing/2014/main" id="{749D0675-4397-4610-9807-2F7C1CC942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6" name="Freeform 32">
              <a:extLst>
                <a:ext uri="{FF2B5EF4-FFF2-40B4-BE49-F238E27FC236}">
                  <a16:creationId xmlns:a16="http://schemas.microsoft.com/office/drawing/2014/main" id="{DE7617CF-8919-43C3-9557-08D67C7DAF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7" name="Rectangle 146">
              <a:extLst>
                <a:ext uri="{FF2B5EF4-FFF2-40B4-BE49-F238E27FC236}">
                  <a16:creationId xmlns:a16="http://schemas.microsoft.com/office/drawing/2014/main" id="{3DB68720-7E37-4930-9900-8632140D62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8" name="Freeform 34">
              <a:extLst>
                <a:ext uri="{FF2B5EF4-FFF2-40B4-BE49-F238E27FC236}">
                  <a16:creationId xmlns:a16="http://schemas.microsoft.com/office/drawing/2014/main" id="{202F13DF-5B76-468E-A95E-80780788BD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9" name="Freeform 35">
              <a:extLst>
                <a:ext uri="{FF2B5EF4-FFF2-40B4-BE49-F238E27FC236}">
                  <a16:creationId xmlns:a16="http://schemas.microsoft.com/office/drawing/2014/main" id="{219143C2-6062-4C2C-9563-6534108E35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0" name="Freeform 36">
              <a:extLst>
                <a:ext uri="{FF2B5EF4-FFF2-40B4-BE49-F238E27FC236}">
                  <a16:creationId xmlns:a16="http://schemas.microsoft.com/office/drawing/2014/main" id="{38413A0C-26DB-479B-B747-1D81361007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1" name="Freeform 37">
              <a:extLst>
                <a:ext uri="{FF2B5EF4-FFF2-40B4-BE49-F238E27FC236}">
                  <a16:creationId xmlns:a16="http://schemas.microsoft.com/office/drawing/2014/main" id="{CB526B5F-4FAA-4B4C-8AF8-B98EC74A3D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2" name="Freeform 38">
              <a:extLst>
                <a:ext uri="{FF2B5EF4-FFF2-40B4-BE49-F238E27FC236}">
                  <a16:creationId xmlns:a16="http://schemas.microsoft.com/office/drawing/2014/main" id="{54FFF88E-6D69-4AE9-8378-D164191557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" name="Freeform 39">
              <a:extLst>
                <a:ext uri="{FF2B5EF4-FFF2-40B4-BE49-F238E27FC236}">
                  <a16:creationId xmlns:a16="http://schemas.microsoft.com/office/drawing/2014/main" id="{8008115A-CE00-4E36-BAF1-B511F21E83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4" name="Freeform 40">
              <a:extLst>
                <a:ext uri="{FF2B5EF4-FFF2-40B4-BE49-F238E27FC236}">
                  <a16:creationId xmlns:a16="http://schemas.microsoft.com/office/drawing/2014/main" id="{2935DB29-6F85-47D8-863C-11386389DB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5" name="Freeform 41">
              <a:extLst>
                <a:ext uri="{FF2B5EF4-FFF2-40B4-BE49-F238E27FC236}">
                  <a16:creationId xmlns:a16="http://schemas.microsoft.com/office/drawing/2014/main" id="{4FB8E51B-1AC1-4671-B181-473C29BECD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6" name="Freeform 42">
              <a:extLst>
                <a:ext uri="{FF2B5EF4-FFF2-40B4-BE49-F238E27FC236}">
                  <a16:creationId xmlns:a16="http://schemas.microsoft.com/office/drawing/2014/main" id="{91E6AE4F-959F-4ED7-A199-8C0307E40E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7" name="Freeform 43">
              <a:extLst>
                <a:ext uri="{FF2B5EF4-FFF2-40B4-BE49-F238E27FC236}">
                  <a16:creationId xmlns:a16="http://schemas.microsoft.com/office/drawing/2014/main" id="{A0445E55-0009-44A5-AA6A-350D9D48A2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8" name="Freeform 44">
              <a:extLst>
                <a:ext uri="{FF2B5EF4-FFF2-40B4-BE49-F238E27FC236}">
                  <a16:creationId xmlns:a16="http://schemas.microsoft.com/office/drawing/2014/main" id="{B5291C75-4ECA-4829-B824-5725C329057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9" name="Rectangle 158">
              <a:extLst>
                <a:ext uri="{FF2B5EF4-FFF2-40B4-BE49-F238E27FC236}">
                  <a16:creationId xmlns:a16="http://schemas.microsoft.com/office/drawing/2014/main" id="{6793376D-3E7C-4F04-8BC8-EC4820622B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0" name="Freeform 46">
              <a:extLst>
                <a:ext uri="{FF2B5EF4-FFF2-40B4-BE49-F238E27FC236}">
                  <a16:creationId xmlns:a16="http://schemas.microsoft.com/office/drawing/2014/main" id="{3596510A-5528-445D-AFEA-6E3F89BA84B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1" name="Freeform 47">
              <a:extLst>
                <a:ext uri="{FF2B5EF4-FFF2-40B4-BE49-F238E27FC236}">
                  <a16:creationId xmlns:a16="http://schemas.microsoft.com/office/drawing/2014/main" id="{E1B69479-D8C9-4E2E-A931-4D49C4FD76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2" name="Freeform 48">
              <a:extLst>
                <a:ext uri="{FF2B5EF4-FFF2-40B4-BE49-F238E27FC236}">
                  <a16:creationId xmlns:a16="http://schemas.microsoft.com/office/drawing/2014/main" id="{0A759A2E-A8B1-44C8-B3F9-A16714C895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3" name="Freeform 49">
              <a:extLst>
                <a:ext uri="{FF2B5EF4-FFF2-40B4-BE49-F238E27FC236}">
                  <a16:creationId xmlns:a16="http://schemas.microsoft.com/office/drawing/2014/main" id="{6C2B3B3C-1DC9-4352-BB73-801976C8F5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4" name="Freeform 50">
              <a:extLst>
                <a:ext uri="{FF2B5EF4-FFF2-40B4-BE49-F238E27FC236}">
                  <a16:creationId xmlns:a16="http://schemas.microsoft.com/office/drawing/2014/main" id="{EE22E3A8-5789-4189-9AC7-98D6826B03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5" name="Freeform 51">
              <a:extLst>
                <a:ext uri="{FF2B5EF4-FFF2-40B4-BE49-F238E27FC236}">
                  <a16:creationId xmlns:a16="http://schemas.microsoft.com/office/drawing/2014/main" id="{9AC0FC74-D003-4D0D-9CAF-F6A03739E2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6" name="Freeform 52">
              <a:extLst>
                <a:ext uri="{FF2B5EF4-FFF2-40B4-BE49-F238E27FC236}">
                  <a16:creationId xmlns:a16="http://schemas.microsoft.com/office/drawing/2014/main" id="{126C2057-02E1-4348-ABEB-EAC063A17E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7" name="Freeform 53">
              <a:extLst>
                <a:ext uri="{FF2B5EF4-FFF2-40B4-BE49-F238E27FC236}">
                  <a16:creationId xmlns:a16="http://schemas.microsoft.com/office/drawing/2014/main" id="{5150586D-D743-4392-844F-F2AFCCE649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8" name="Freeform 54">
              <a:extLst>
                <a:ext uri="{FF2B5EF4-FFF2-40B4-BE49-F238E27FC236}">
                  <a16:creationId xmlns:a16="http://schemas.microsoft.com/office/drawing/2014/main" id="{9E5B157A-534E-4879-8013-D02864E76F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9" name="Freeform 55">
              <a:extLst>
                <a:ext uri="{FF2B5EF4-FFF2-40B4-BE49-F238E27FC236}">
                  <a16:creationId xmlns:a16="http://schemas.microsoft.com/office/drawing/2014/main" id="{CEE2DD73-7E8C-4F26-8E93-8C32D11B266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0" name="Freeform 56">
              <a:extLst>
                <a:ext uri="{FF2B5EF4-FFF2-40B4-BE49-F238E27FC236}">
                  <a16:creationId xmlns:a16="http://schemas.microsoft.com/office/drawing/2014/main" id="{908CAC5F-DD8E-4A58-BD4C-6D8D29FA49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1" name="Freeform 57">
              <a:extLst>
                <a:ext uri="{FF2B5EF4-FFF2-40B4-BE49-F238E27FC236}">
                  <a16:creationId xmlns:a16="http://schemas.microsoft.com/office/drawing/2014/main" id="{20F130CF-281E-408C-9884-5F8B22CA1D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2" name="Freeform 58">
              <a:extLst>
                <a:ext uri="{FF2B5EF4-FFF2-40B4-BE49-F238E27FC236}">
                  <a16:creationId xmlns:a16="http://schemas.microsoft.com/office/drawing/2014/main" id="{3BC78068-9115-4D5D-9B2B-6F9BD9C296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" name="Rectangle 1">
            <a:extLst>
              <a:ext uri="{FF2B5EF4-FFF2-40B4-BE49-F238E27FC236}">
                <a16:creationId xmlns:a16="http://schemas.microsoft.com/office/drawing/2014/main" id="{55C3BF3B-742B-D442-AF62-0BAF942BA54E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448425" y="2249487"/>
            <a:ext cx="4598986" cy="3541714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Greške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u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kodu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nisu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uvijek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lako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uočljive</a:t>
            </a:r>
            <a:endParaRPr kumimoji="0" lang="en-US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Razvojna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okruženja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se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često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oslanjaju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samo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na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boje</a:t>
            </a:r>
            <a:endParaRPr kumimoji="0" lang="en-US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To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otežava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učenje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programiranja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početnicima</a:t>
            </a:r>
            <a:endParaRPr kumimoji="0" lang="en-US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Daltonisti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teže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razlikuju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crvenu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i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zelenu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boju</a:t>
            </a:r>
            <a:endParaRPr kumimoji="0" lang="en-US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75323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74872A0B-8668-4500-9509-EAA581B26C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1"/>
            <a:ext cx="12192003" cy="6858001"/>
            <a:chOff x="0" y="-1"/>
            <a:chExt cx="12192003" cy="6858001"/>
          </a:xfrm>
        </p:grpSpPr>
        <p:sp useBgFill="1">
          <p:nvSpPr>
            <p:cNvPr id="12" name="Rectangle 11">
              <a:extLst>
                <a:ext uri="{FF2B5EF4-FFF2-40B4-BE49-F238E27FC236}">
                  <a16:creationId xmlns:a16="http://schemas.microsoft.com/office/drawing/2014/main" id="{8B504305-5526-408E-85F7-F0BA7E527C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" y="-1"/>
              <a:ext cx="121920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3" name="Picture 2">
              <a:extLst>
                <a:ext uri="{FF2B5EF4-FFF2-40B4-BE49-F238E27FC236}">
                  <a16:creationId xmlns:a16="http://schemas.microsoft.com/office/drawing/2014/main" id="{5827CE64-2533-45A6-9A39-7D5052E5CE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 noChangeArrowheads="1"/>
            </p:cNvPic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PicPr>
          <p:blipFill>
            <a:blip r:embed="rId3">
              <a:alphaModFix amt="30000"/>
              <a:duotone>
                <a:prstClr val="black"/>
                <a:schemeClr val="tx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-1"/>
              <a:ext cx="12192003" cy="6858001"/>
            </a:xfrm>
            <a:prstGeom prst="rect">
              <a:avLst/>
            </a:prstGeom>
            <a:noFill/>
            <a:extLst>
              <a:ext uri="{909E8E84-426E-40dd-AFC4-6F175D3DCCD1}">
                <a14:hiddenFill xmlns="" xmlns:a16="http://schemas.microsoft.com/office/drawing/2014/main" xmlns:a14="http://schemas.microsoft.com/office/drawing/2010/main" xmlns:p14="http://schemas.microsoft.com/office/powerpoint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12DECEC-1E0E-220A-62E1-48273F3367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48425" y="618518"/>
            <a:ext cx="4598985" cy="1478570"/>
          </a:xfrm>
        </p:spPr>
        <p:txBody>
          <a:bodyPr>
            <a:normAutofit/>
          </a:bodyPr>
          <a:lstStyle/>
          <a:p>
            <a:r>
              <a:rPr lang="hr-HR" dirty="0"/>
              <a:t>RJEŠENJE</a:t>
            </a:r>
            <a:endParaRPr lang="en-US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40590EE-5428-41AA-95B2-96FCC1CE67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2305051" cy="6858001"/>
            <a:chOff x="0" y="0"/>
            <a:chExt cx="2305051" cy="6858001"/>
          </a:xfrm>
          <a:solidFill>
            <a:schemeClr val="tx1">
              <a:alpha val="70000"/>
            </a:schemeClr>
          </a:solidFill>
          <a:effectLst/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494DCC55-99C6-45CF-B357-E3848C80934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6">
              <a:extLst>
                <a:ext uri="{FF2B5EF4-FFF2-40B4-BE49-F238E27FC236}">
                  <a16:creationId xmlns:a16="http://schemas.microsoft.com/office/drawing/2014/main" id="{63D64E32-FF0C-4665-B9D8-D1ECAAE5BA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7">
              <a:extLst>
                <a:ext uri="{FF2B5EF4-FFF2-40B4-BE49-F238E27FC236}">
                  <a16:creationId xmlns:a16="http://schemas.microsoft.com/office/drawing/2014/main" id="{3675001D-3840-4589-8190-505A7F52F0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19E34E87-395F-4023-A80E-D1CBAAEBD9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9">
              <a:extLst>
                <a:ext uri="{FF2B5EF4-FFF2-40B4-BE49-F238E27FC236}">
                  <a16:creationId xmlns:a16="http://schemas.microsoft.com/office/drawing/2014/main" id="{6FB1B38F-1B92-41C3-AA1D-6D6440FB0D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10">
              <a:extLst>
                <a:ext uri="{FF2B5EF4-FFF2-40B4-BE49-F238E27FC236}">
                  <a16:creationId xmlns:a16="http://schemas.microsoft.com/office/drawing/2014/main" id="{02FBE453-FBD2-4348-8DDA-4A023444EC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11">
              <a:extLst>
                <a:ext uri="{FF2B5EF4-FFF2-40B4-BE49-F238E27FC236}">
                  <a16:creationId xmlns:a16="http://schemas.microsoft.com/office/drawing/2014/main" id="{60D719E8-BF78-4F42-B9D1-7F5E02A369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 12">
              <a:extLst>
                <a:ext uri="{FF2B5EF4-FFF2-40B4-BE49-F238E27FC236}">
                  <a16:creationId xmlns:a16="http://schemas.microsoft.com/office/drawing/2014/main" id="{5EC70737-9C19-4CF5-84DA-B22A960D53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Freeform 13">
              <a:extLst>
                <a:ext uri="{FF2B5EF4-FFF2-40B4-BE49-F238E27FC236}">
                  <a16:creationId xmlns:a16="http://schemas.microsoft.com/office/drawing/2014/main" id="{88FD042E-E56E-4360-9620-F811AB9A33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14">
              <a:extLst>
                <a:ext uri="{FF2B5EF4-FFF2-40B4-BE49-F238E27FC236}">
                  <a16:creationId xmlns:a16="http://schemas.microsoft.com/office/drawing/2014/main" id="{18F15D2B-0812-46F6-B0F4-6A6714B543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15">
              <a:extLst>
                <a:ext uri="{FF2B5EF4-FFF2-40B4-BE49-F238E27FC236}">
                  <a16:creationId xmlns:a16="http://schemas.microsoft.com/office/drawing/2014/main" id="{0C2F2A50-98DD-4F92-BDFE-B72E235766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16">
              <a:extLst>
                <a:ext uri="{FF2B5EF4-FFF2-40B4-BE49-F238E27FC236}">
                  <a16:creationId xmlns:a16="http://schemas.microsoft.com/office/drawing/2014/main" id="{473541D9-6DAE-4718-97D4-8952F4E7CC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17">
              <a:extLst>
                <a:ext uri="{FF2B5EF4-FFF2-40B4-BE49-F238E27FC236}">
                  <a16:creationId xmlns:a16="http://schemas.microsoft.com/office/drawing/2014/main" id="{3A56C5E9-011C-44D2-AF94-3BF5420433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18">
              <a:extLst>
                <a:ext uri="{FF2B5EF4-FFF2-40B4-BE49-F238E27FC236}">
                  <a16:creationId xmlns:a16="http://schemas.microsoft.com/office/drawing/2014/main" id="{CD279E0E-1CD5-4F41-96A5-3A09707E81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19">
              <a:extLst>
                <a:ext uri="{FF2B5EF4-FFF2-40B4-BE49-F238E27FC236}">
                  <a16:creationId xmlns:a16="http://schemas.microsoft.com/office/drawing/2014/main" id="{F5A6F094-9E54-4985-8738-D2067A4F07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20">
              <a:extLst>
                <a:ext uri="{FF2B5EF4-FFF2-40B4-BE49-F238E27FC236}">
                  <a16:creationId xmlns:a16="http://schemas.microsoft.com/office/drawing/2014/main" id="{99D51F59-FA93-490E-B9CF-97BB63747C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21">
              <a:extLst>
                <a:ext uri="{FF2B5EF4-FFF2-40B4-BE49-F238E27FC236}">
                  <a16:creationId xmlns:a16="http://schemas.microsoft.com/office/drawing/2014/main" id="{3CD83DC6-F4A0-4A4D-AAC3-83983F960D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22">
              <a:extLst>
                <a:ext uri="{FF2B5EF4-FFF2-40B4-BE49-F238E27FC236}">
                  <a16:creationId xmlns:a16="http://schemas.microsoft.com/office/drawing/2014/main" id="{6E9B4028-C74F-4631-8312-68B30E6E62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23">
              <a:extLst>
                <a:ext uri="{FF2B5EF4-FFF2-40B4-BE49-F238E27FC236}">
                  <a16:creationId xmlns:a16="http://schemas.microsoft.com/office/drawing/2014/main" id="{1E3337C9-1DDE-4E2E-8519-7D2C23C95F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24">
              <a:extLst>
                <a:ext uri="{FF2B5EF4-FFF2-40B4-BE49-F238E27FC236}">
                  <a16:creationId xmlns:a16="http://schemas.microsoft.com/office/drawing/2014/main" id="{754A526E-6EC0-458A-9C4C-008F6749CD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Freeform 25">
              <a:extLst>
                <a:ext uri="{FF2B5EF4-FFF2-40B4-BE49-F238E27FC236}">
                  <a16:creationId xmlns:a16="http://schemas.microsoft.com/office/drawing/2014/main" id="{6A3DA723-7448-48CF-8BD2-FED2D4FED5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Freeform 26">
              <a:extLst>
                <a:ext uri="{FF2B5EF4-FFF2-40B4-BE49-F238E27FC236}">
                  <a16:creationId xmlns:a16="http://schemas.microsoft.com/office/drawing/2014/main" id="{9B506EC1-D8A8-4532-B78B-A236567EE0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Freeform 27">
              <a:extLst>
                <a:ext uri="{FF2B5EF4-FFF2-40B4-BE49-F238E27FC236}">
                  <a16:creationId xmlns:a16="http://schemas.microsoft.com/office/drawing/2014/main" id="{AA9DFB36-74F4-4977-ABC5-3257EDA331B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28">
              <a:extLst>
                <a:ext uri="{FF2B5EF4-FFF2-40B4-BE49-F238E27FC236}">
                  <a16:creationId xmlns:a16="http://schemas.microsoft.com/office/drawing/2014/main" id="{966A7FBA-BB79-4AF0-90C2-5F2BC9F2D1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Freeform 29">
              <a:extLst>
                <a:ext uri="{FF2B5EF4-FFF2-40B4-BE49-F238E27FC236}">
                  <a16:creationId xmlns:a16="http://schemas.microsoft.com/office/drawing/2014/main" id="{23BB8A47-FF1B-44E5-8D93-7ADF37F1D7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Freeform 30">
              <a:extLst>
                <a:ext uri="{FF2B5EF4-FFF2-40B4-BE49-F238E27FC236}">
                  <a16:creationId xmlns:a16="http://schemas.microsoft.com/office/drawing/2014/main" id="{E463E1B7-7BED-4425-95B7-F6F75F8733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Freeform 31">
              <a:extLst>
                <a:ext uri="{FF2B5EF4-FFF2-40B4-BE49-F238E27FC236}">
                  <a16:creationId xmlns:a16="http://schemas.microsoft.com/office/drawing/2014/main" id="{749D0675-4397-4610-9807-2F7C1CC942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Freeform 32">
              <a:extLst>
                <a:ext uri="{FF2B5EF4-FFF2-40B4-BE49-F238E27FC236}">
                  <a16:creationId xmlns:a16="http://schemas.microsoft.com/office/drawing/2014/main" id="{DE7617CF-8919-43C3-9557-08D67C7DAF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3DB68720-7E37-4930-9900-8632140D62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Freeform 34">
              <a:extLst>
                <a:ext uri="{FF2B5EF4-FFF2-40B4-BE49-F238E27FC236}">
                  <a16:creationId xmlns:a16="http://schemas.microsoft.com/office/drawing/2014/main" id="{202F13DF-5B76-468E-A95E-80780788BD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Freeform 35">
              <a:extLst>
                <a:ext uri="{FF2B5EF4-FFF2-40B4-BE49-F238E27FC236}">
                  <a16:creationId xmlns:a16="http://schemas.microsoft.com/office/drawing/2014/main" id="{219143C2-6062-4C2C-9563-6534108E35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7" name="Freeform 36">
              <a:extLst>
                <a:ext uri="{FF2B5EF4-FFF2-40B4-BE49-F238E27FC236}">
                  <a16:creationId xmlns:a16="http://schemas.microsoft.com/office/drawing/2014/main" id="{38413A0C-26DB-479B-B747-1D81361007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Freeform 37">
              <a:extLst>
                <a:ext uri="{FF2B5EF4-FFF2-40B4-BE49-F238E27FC236}">
                  <a16:creationId xmlns:a16="http://schemas.microsoft.com/office/drawing/2014/main" id="{CB526B5F-4FAA-4B4C-8AF8-B98EC74A3D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Freeform 38">
              <a:extLst>
                <a:ext uri="{FF2B5EF4-FFF2-40B4-BE49-F238E27FC236}">
                  <a16:creationId xmlns:a16="http://schemas.microsoft.com/office/drawing/2014/main" id="{54FFF88E-6D69-4AE9-8378-D164191557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Freeform 39">
              <a:extLst>
                <a:ext uri="{FF2B5EF4-FFF2-40B4-BE49-F238E27FC236}">
                  <a16:creationId xmlns:a16="http://schemas.microsoft.com/office/drawing/2014/main" id="{8008115A-CE00-4E36-BAF1-B511F21E83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Freeform 40">
              <a:extLst>
                <a:ext uri="{FF2B5EF4-FFF2-40B4-BE49-F238E27FC236}">
                  <a16:creationId xmlns:a16="http://schemas.microsoft.com/office/drawing/2014/main" id="{2935DB29-6F85-47D8-863C-11386389DB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Freeform 41">
              <a:extLst>
                <a:ext uri="{FF2B5EF4-FFF2-40B4-BE49-F238E27FC236}">
                  <a16:creationId xmlns:a16="http://schemas.microsoft.com/office/drawing/2014/main" id="{4FB8E51B-1AC1-4671-B181-473C29BECD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Freeform 42">
              <a:extLst>
                <a:ext uri="{FF2B5EF4-FFF2-40B4-BE49-F238E27FC236}">
                  <a16:creationId xmlns:a16="http://schemas.microsoft.com/office/drawing/2014/main" id="{91E6AE4F-959F-4ED7-A199-8C0307E40E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Freeform 43">
              <a:extLst>
                <a:ext uri="{FF2B5EF4-FFF2-40B4-BE49-F238E27FC236}">
                  <a16:creationId xmlns:a16="http://schemas.microsoft.com/office/drawing/2014/main" id="{A0445E55-0009-44A5-AA6A-350D9D48A2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Freeform 44">
              <a:extLst>
                <a:ext uri="{FF2B5EF4-FFF2-40B4-BE49-F238E27FC236}">
                  <a16:creationId xmlns:a16="http://schemas.microsoft.com/office/drawing/2014/main" id="{B5291C75-4ECA-4829-B824-5725C329057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6793376D-3E7C-4F04-8BC8-EC4820622B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7" name="Freeform 46">
              <a:extLst>
                <a:ext uri="{FF2B5EF4-FFF2-40B4-BE49-F238E27FC236}">
                  <a16:creationId xmlns:a16="http://schemas.microsoft.com/office/drawing/2014/main" id="{3596510A-5528-445D-AFEA-6E3F89BA84B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Freeform 47">
              <a:extLst>
                <a:ext uri="{FF2B5EF4-FFF2-40B4-BE49-F238E27FC236}">
                  <a16:creationId xmlns:a16="http://schemas.microsoft.com/office/drawing/2014/main" id="{E1B69479-D8C9-4E2E-A931-4D49C4FD76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Freeform 48">
              <a:extLst>
                <a:ext uri="{FF2B5EF4-FFF2-40B4-BE49-F238E27FC236}">
                  <a16:creationId xmlns:a16="http://schemas.microsoft.com/office/drawing/2014/main" id="{0A759A2E-A8B1-44C8-B3F9-A16714C895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0" name="Freeform 49">
              <a:extLst>
                <a:ext uri="{FF2B5EF4-FFF2-40B4-BE49-F238E27FC236}">
                  <a16:creationId xmlns:a16="http://schemas.microsoft.com/office/drawing/2014/main" id="{6C2B3B3C-1DC9-4352-BB73-801976C8F5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" name="Freeform 50">
              <a:extLst>
                <a:ext uri="{FF2B5EF4-FFF2-40B4-BE49-F238E27FC236}">
                  <a16:creationId xmlns:a16="http://schemas.microsoft.com/office/drawing/2014/main" id="{EE22E3A8-5789-4189-9AC7-98D6826B03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" name="Freeform 51">
              <a:extLst>
                <a:ext uri="{FF2B5EF4-FFF2-40B4-BE49-F238E27FC236}">
                  <a16:creationId xmlns:a16="http://schemas.microsoft.com/office/drawing/2014/main" id="{9AC0FC74-D003-4D0D-9CAF-F6A03739E2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Freeform 52">
              <a:extLst>
                <a:ext uri="{FF2B5EF4-FFF2-40B4-BE49-F238E27FC236}">
                  <a16:creationId xmlns:a16="http://schemas.microsoft.com/office/drawing/2014/main" id="{126C2057-02E1-4348-ABEB-EAC063A17E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4" name="Freeform 53">
              <a:extLst>
                <a:ext uri="{FF2B5EF4-FFF2-40B4-BE49-F238E27FC236}">
                  <a16:creationId xmlns:a16="http://schemas.microsoft.com/office/drawing/2014/main" id="{5150586D-D743-4392-844F-F2AFCCE649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5" name="Freeform 54">
              <a:extLst>
                <a:ext uri="{FF2B5EF4-FFF2-40B4-BE49-F238E27FC236}">
                  <a16:creationId xmlns:a16="http://schemas.microsoft.com/office/drawing/2014/main" id="{9E5B157A-534E-4879-8013-D02864E76F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6" name="Freeform 55">
              <a:extLst>
                <a:ext uri="{FF2B5EF4-FFF2-40B4-BE49-F238E27FC236}">
                  <a16:creationId xmlns:a16="http://schemas.microsoft.com/office/drawing/2014/main" id="{CEE2DD73-7E8C-4F26-8E93-8C32D11B266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7" name="Freeform 56">
              <a:extLst>
                <a:ext uri="{FF2B5EF4-FFF2-40B4-BE49-F238E27FC236}">
                  <a16:creationId xmlns:a16="http://schemas.microsoft.com/office/drawing/2014/main" id="{908CAC5F-DD8E-4A58-BD4C-6D8D29FA49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8" name="Freeform 57">
              <a:extLst>
                <a:ext uri="{FF2B5EF4-FFF2-40B4-BE49-F238E27FC236}">
                  <a16:creationId xmlns:a16="http://schemas.microsoft.com/office/drawing/2014/main" id="{20F130CF-281E-408C-9884-5F8B22CA1D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9" name="Freeform 58">
              <a:extLst>
                <a:ext uri="{FF2B5EF4-FFF2-40B4-BE49-F238E27FC236}">
                  <a16:creationId xmlns:a16="http://schemas.microsoft.com/office/drawing/2014/main" id="{3BC78068-9115-4D5D-9B2B-6F9BD9C296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" name="Rectangle 1">
            <a:extLst>
              <a:ext uri="{FF2B5EF4-FFF2-40B4-BE49-F238E27FC236}">
                <a16:creationId xmlns:a16="http://schemas.microsoft.com/office/drawing/2014/main" id="{31664ACF-C809-E4DF-B25B-A3A4533AFC1B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448425" y="2249487"/>
            <a:ext cx="4598986" cy="3541714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VSC A11Y je </a:t>
            </a:r>
            <a:r>
              <a:rPr kumimoji="0" lang="en-US" altLang="en-US" b="0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</a:rPr>
              <a:t>ekstenzija</a:t>
            </a:r>
            <a:r>
              <a:rPr kumimoji="0" lang="en-US" altLang="en-US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za Visual Studio Code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</a:rPr>
              <a:t>Fokusirana</a:t>
            </a:r>
            <a:r>
              <a:rPr kumimoji="0" lang="en-US" altLang="en-US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je </a:t>
            </a:r>
            <a:r>
              <a:rPr kumimoji="0" lang="en-US" altLang="en-US" b="0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</a:rPr>
              <a:t>na</a:t>
            </a:r>
            <a:r>
              <a:rPr kumimoji="0" lang="en-US" altLang="en-US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</a:rPr>
              <a:t>osnovne</a:t>
            </a:r>
            <a:r>
              <a:rPr kumimoji="0" lang="en-US" altLang="en-US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</a:rPr>
              <a:t>elemente</a:t>
            </a:r>
            <a:r>
              <a:rPr kumimoji="0" lang="en-US" altLang="en-US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</a:rPr>
              <a:t>pristupačnosti</a:t>
            </a:r>
            <a:endParaRPr kumimoji="0" lang="en-US" altLang="en-US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Ne </a:t>
            </a:r>
            <a:r>
              <a:rPr kumimoji="0" lang="en-US" altLang="en-US" b="0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</a:rPr>
              <a:t>mijenja</a:t>
            </a:r>
            <a:r>
              <a:rPr kumimoji="0" lang="en-US" altLang="en-US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</a:rPr>
              <a:t>izvorni</a:t>
            </a:r>
            <a:r>
              <a:rPr kumimoji="0" lang="en-US" altLang="en-US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</a:rPr>
              <a:t>kod</a:t>
            </a:r>
            <a:endParaRPr kumimoji="0" lang="en-US" altLang="en-US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</a:rPr>
              <a:t>Pomaže</a:t>
            </a:r>
            <a:r>
              <a:rPr kumimoji="0" lang="en-US" altLang="en-US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u </a:t>
            </a:r>
            <a:r>
              <a:rPr kumimoji="0" lang="en-US" altLang="en-US" b="0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</a:rPr>
              <a:t>lakšem</a:t>
            </a:r>
            <a:r>
              <a:rPr kumimoji="0" lang="en-US" altLang="en-US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</a:rPr>
              <a:t>uočavanju</a:t>
            </a:r>
            <a:r>
              <a:rPr kumimoji="0" lang="en-US" altLang="en-US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</a:rPr>
              <a:t>problema</a:t>
            </a:r>
            <a:r>
              <a:rPr kumimoji="0" lang="en-US" altLang="en-US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u </a:t>
            </a:r>
            <a:r>
              <a:rPr kumimoji="0" lang="en-US" altLang="en-US" b="0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</a:rPr>
              <a:t>kodu</a:t>
            </a:r>
            <a:endParaRPr kumimoji="0" lang="en-US" altLang="en-US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B365FAA-0022-AE22-C682-60984645F62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5" r="45008"/>
          <a:stretch>
            <a:fillRect/>
          </a:stretch>
        </p:blipFill>
        <p:spPr>
          <a:xfrm>
            <a:off x="-5597" y="10"/>
            <a:ext cx="6101597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12624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7F736-B1A2-4C77-32F1-16CDB399DA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 err="1"/>
              <a:t>Error</a:t>
            </a:r>
            <a:r>
              <a:rPr lang="hr-HR" dirty="0"/>
              <a:t> i </a:t>
            </a:r>
            <a:r>
              <a:rPr lang="hr-HR" dirty="0" err="1"/>
              <a:t>Warning</a:t>
            </a:r>
            <a:endParaRPr lang="en-US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9CA482DF-6767-25A4-E23E-B6D378E7E7D6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997167"/>
            <a:ext cx="6235840" cy="36625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Error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Crveni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okvir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Simbol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Warning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Žuti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okvir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Simbol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Ne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oslanja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se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samo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na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boje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Pogodno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za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osobe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daltonizmom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BBC54F25-46B0-2846-3AB5-68A50D019D3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67000" y="0"/>
            <a:ext cx="3429000" cy="3429000"/>
          </a:xfrm>
          <a:prstGeom prst="rect">
            <a:avLst/>
          </a:prstGeom>
        </p:spPr>
      </p:pic>
      <p:pic>
        <p:nvPicPr>
          <p:cNvPr id="8" name="Graphic 7" descr="Badge Cross with solid fill">
            <a:extLst>
              <a:ext uri="{FF2B5EF4-FFF2-40B4-BE49-F238E27FC236}">
                <a16:creationId xmlns:a16="http://schemas.microsoft.com/office/drawing/2014/main" id="{3074A5AE-DED2-D989-B66A-49BB0046F96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649738" y="2956485"/>
            <a:ext cx="480431" cy="480431"/>
          </a:xfrm>
          <a:prstGeom prst="rect">
            <a:avLst/>
          </a:prstGeom>
        </p:spPr>
      </p:pic>
      <p:pic>
        <p:nvPicPr>
          <p:cNvPr id="10" name="Graphic 9" descr="Warning with solid fill">
            <a:extLst>
              <a:ext uri="{FF2B5EF4-FFF2-40B4-BE49-F238E27FC236}">
                <a16:creationId xmlns:a16="http://schemas.microsoft.com/office/drawing/2014/main" id="{A1930606-9661-93A3-3495-4E3D84C8429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678938" y="4230425"/>
            <a:ext cx="457200" cy="4572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856687E-1BD9-5779-A9E2-4340E77C7BD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2968" y="1973804"/>
            <a:ext cx="6017656" cy="225662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6226537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95AAF9-376C-7490-D3A3-A86F514C13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ZAŠTO JE TO VAŽNO?</a:t>
            </a:r>
            <a:endParaRPr lang="en-US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92C6C4C8-9A1E-333B-099F-0AF221314F46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690688"/>
            <a:ext cx="6511719" cy="259782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Brže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uočavanje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grešaka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Manje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frustracije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tijekom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programiranja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Lakše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praćenje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ispravljanje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koda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Bolje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iskustvo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učenja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77871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11C021-93F0-8902-3672-8F99F12E1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ISHIHARA TEST</a:t>
            </a:r>
            <a:endParaRPr lang="en-US" dirty="0"/>
          </a:p>
        </p:txBody>
      </p:sp>
      <p:graphicFrame>
        <p:nvGraphicFramePr>
          <p:cNvPr id="8" name="Rectangle 1">
            <a:extLst>
              <a:ext uri="{FF2B5EF4-FFF2-40B4-BE49-F238E27FC236}">
                <a16:creationId xmlns:a16="http://schemas.microsoft.com/office/drawing/2014/main" id="{49B4FF67-7CAD-04F5-6573-F24E20F12CAD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690688"/>
          <a:ext cx="8190063" cy="259782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A362FFCA-8304-20B3-7D53-890101967D3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94422" y="2526320"/>
            <a:ext cx="2640992" cy="2640992"/>
          </a:xfrm>
          <a:prstGeom prst="flowChartConnector">
            <a:avLst/>
          </a:prstGeom>
        </p:spPr>
      </p:pic>
    </p:spTree>
    <p:extLst>
      <p:ext uri="{BB962C8B-B14F-4D97-AF65-F5344CB8AC3E}">
        <p14:creationId xmlns:p14="http://schemas.microsoft.com/office/powerpoint/2010/main" val="40207423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9AF2E6-18F7-240C-FB3E-E0934D1052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KAKO RADI ISHIHARA TEST?</a:t>
            </a:r>
            <a:endParaRPr lang="en-US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308C6654-077D-040B-B37E-9F9A741DEFA0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869679"/>
            <a:ext cx="7074373" cy="22398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Implementiran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u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Pythonu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Koristi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PIL (P</a:t>
            </a:r>
            <a:r>
              <a:rPr kumimoji="0" lang="hr-HR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ython</a:t>
            </a:r>
            <a:r>
              <a:rPr kumimoji="0" lang="hr-HR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r-HR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Imaging</a:t>
            </a:r>
            <a:r>
              <a:rPr kumimoji="0" lang="hr-HR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r-HR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Library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biblioteku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Algoritamski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generira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Ishihara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ploče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Različite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palete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boja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za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različite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tipove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daltonizma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224857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5AB4C9-37F2-5BC7-348C-EE2A418153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TEHNIČKA REALIZACIJA</a:t>
            </a:r>
            <a:endParaRPr lang="en-US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D4F82811-5F86-A9AE-1E57-BDDFF09926C2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2060020"/>
            <a:ext cx="6298327" cy="221708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TypeScript – VS Code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ekstenzija</a:t>
            </a:r>
            <a:endParaRPr kumimoji="0" lang="en-US" altLang="en-US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Python – Ishihara test</a:t>
            </a:r>
            <a:endParaRPr kumimoji="0" lang="hr-HR" altLang="en-US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Ne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mijenja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izvorni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kod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korisnika</a:t>
            </a:r>
            <a:endParaRPr kumimoji="0" lang="en-US" altLang="en-US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094266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8E1DDAD8-1D10-4640-A034-BE90015E37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1"/>
            <a:ext cx="12192003" cy="6858001"/>
            <a:chOff x="0" y="-1"/>
            <a:chExt cx="12192003" cy="6858001"/>
          </a:xfrm>
        </p:grpSpPr>
        <p:sp useBgFill="1">
          <p:nvSpPr>
            <p:cNvPr id="12" name="Rectangle 11">
              <a:extLst>
                <a:ext uri="{FF2B5EF4-FFF2-40B4-BE49-F238E27FC236}">
                  <a16:creationId xmlns:a16="http://schemas.microsoft.com/office/drawing/2014/main" id="{52FE7688-721D-4A97-B007-BDE056094D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" y="-1"/>
              <a:ext cx="121920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3" name="Picture 2">
              <a:extLst>
                <a:ext uri="{FF2B5EF4-FFF2-40B4-BE49-F238E27FC236}">
                  <a16:creationId xmlns:a16="http://schemas.microsoft.com/office/drawing/2014/main" id="{9E73A810-8571-4A9D-A3CB-336933AB4C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 noChangeArrowheads="1"/>
            </p:cNvPic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PicPr>
          <p:blipFill>
            <a:blip r:embed="rId3">
              <a:alphaModFix amt="30000"/>
              <a:duotone>
                <a:prstClr val="black"/>
                <a:schemeClr val="tx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-1"/>
              <a:ext cx="12192003" cy="6858001"/>
            </a:xfrm>
            <a:prstGeom prst="rect">
              <a:avLst/>
            </a:prstGeom>
            <a:noFill/>
            <a:extLst>
              <a:ext uri="{909E8E84-426E-40dd-AFC4-6F175D3DCCD1}">
                <a14:hiddenFill xmlns="" xmlns:a16="http://schemas.microsoft.com/office/drawing/2014/main" xmlns:a14="http://schemas.microsoft.com/office/drawing/2010/main" xmlns:p14="http://schemas.microsoft.com/office/powerpoint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AF925F62-4B20-463B-9F83-9AF618698E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62519" y="618518"/>
            <a:ext cx="3084891" cy="1478570"/>
          </a:xfrm>
        </p:spPr>
        <p:txBody>
          <a:bodyPr>
            <a:normAutofit/>
          </a:bodyPr>
          <a:lstStyle/>
          <a:p>
            <a:r>
              <a:rPr lang="hr-HR" sz="3200"/>
              <a:t>PREDNOSTI PROJEKTA</a:t>
            </a:r>
            <a:endParaRPr lang="en-US" sz="320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FD642FB6-2808-4BC5-AE0B-7302C24B7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2305051" cy="6858001"/>
            <a:chOff x="0" y="0"/>
            <a:chExt cx="2305051" cy="6858001"/>
          </a:xfrm>
          <a:solidFill>
            <a:schemeClr val="tx1">
              <a:alpha val="70000"/>
            </a:schemeClr>
          </a:solidFill>
          <a:effectLst/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0B0B8F04-D9A7-48E5-A29C-51A66B59DF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6">
              <a:extLst>
                <a:ext uri="{FF2B5EF4-FFF2-40B4-BE49-F238E27FC236}">
                  <a16:creationId xmlns:a16="http://schemas.microsoft.com/office/drawing/2014/main" id="{D6D18883-6BFF-42BB-8088-FCCF83F9CF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7">
              <a:extLst>
                <a:ext uri="{FF2B5EF4-FFF2-40B4-BE49-F238E27FC236}">
                  <a16:creationId xmlns:a16="http://schemas.microsoft.com/office/drawing/2014/main" id="{1D0FEFB3-A009-4D0F-9107-C0B17786FB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78E86C7F-B981-4448-8A1A-856F7124FF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9">
              <a:extLst>
                <a:ext uri="{FF2B5EF4-FFF2-40B4-BE49-F238E27FC236}">
                  <a16:creationId xmlns:a16="http://schemas.microsoft.com/office/drawing/2014/main" id="{4C6CFFD9-BA00-4184-8310-5FC9550954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10">
              <a:extLst>
                <a:ext uri="{FF2B5EF4-FFF2-40B4-BE49-F238E27FC236}">
                  <a16:creationId xmlns:a16="http://schemas.microsoft.com/office/drawing/2014/main" id="{A1892DF3-4848-496C-8664-DFD32EE250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11">
              <a:extLst>
                <a:ext uri="{FF2B5EF4-FFF2-40B4-BE49-F238E27FC236}">
                  <a16:creationId xmlns:a16="http://schemas.microsoft.com/office/drawing/2014/main" id="{D6DB8C30-651E-4D8F-A70C-163FC58427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 12">
              <a:extLst>
                <a:ext uri="{FF2B5EF4-FFF2-40B4-BE49-F238E27FC236}">
                  <a16:creationId xmlns:a16="http://schemas.microsoft.com/office/drawing/2014/main" id="{563DFB81-F969-4F44-BA6C-6347956423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Freeform 13">
              <a:extLst>
                <a:ext uri="{FF2B5EF4-FFF2-40B4-BE49-F238E27FC236}">
                  <a16:creationId xmlns:a16="http://schemas.microsoft.com/office/drawing/2014/main" id="{8E5DE346-AFCA-40DA-B5E2-93A86EA54C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14">
              <a:extLst>
                <a:ext uri="{FF2B5EF4-FFF2-40B4-BE49-F238E27FC236}">
                  <a16:creationId xmlns:a16="http://schemas.microsoft.com/office/drawing/2014/main" id="{77A34306-2AE8-43D0-9686-E97B3B53FE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15">
              <a:extLst>
                <a:ext uri="{FF2B5EF4-FFF2-40B4-BE49-F238E27FC236}">
                  <a16:creationId xmlns:a16="http://schemas.microsoft.com/office/drawing/2014/main" id="{B9CC10F0-FFCD-4CB9-AF4C-22722D20B75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16">
              <a:extLst>
                <a:ext uri="{FF2B5EF4-FFF2-40B4-BE49-F238E27FC236}">
                  <a16:creationId xmlns:a16="http://schemas.microsoft.com/office/drawing/2014/main" id="{2A6B0E38-C962-4491-BFDA-75378B4D67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17">
              <a:extLst>
                <a:ext uri="{FF2B5EF4-FFF2-40B4-BE49-F238E27FC236}">
                  <a16:creationId xmlns:a16="http://schemas.microsoft.com/office/drawing/2014/main" id="{655F640B-8407-487C-8696-F47451478E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18">
              <a:extLst>
                <a:ext uri="{FF2B5EF4-FFF2-40B4-BE49-F238E27FC236}">
                  <a16:creationId xmlns:a16="http://schemas.microsoft.com/office/drawing/2014/main" id="{FAB4F099-4FF6-4410-A5B9-2A5355719C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19">
              <a:extLst>
                <a:ext uri="{FF2B5EF4-FFF2-40B4-BE49-F238E27FC236}">
                  <a16:creationId xmlns:a16="http://schemas.microsoft.com/office/drawing/2014/main" id="{6FE80B6E-3DA9-4304-9925-12E578C4E9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20">
              <a:extLst>
                <a:ext uri="{FF2B5EF4-FFF2-40B4-BE49-F238E27FC236}">
                  <a16:creationId xmlns:a16="http://schemas.microsoft.com/office/drawing/2014/main" id="{67D1CB75-0CBA-4E13-924C-21F221D7BF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21">
              <a:extLst>
                <a:ext uri="{FF2B5EF4-FFF2-40B4-BE49-F238E27FC236}">
                  <a16:creationId xmlns:a16="http://schemas.microsoft.com/office/drawing/2014/main" id="{F2CC783B-FA45-4777-A76A-982B285C7C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22">
              <a:extLst>
                <a:ext uri="{FF2B5EF4-FFF2-40B4-BE49-F238E27FC236}">
                  <a16:creationId xmlns:a16="http://schemas.microsoft.com/office/drawing/2014/main" id="{D68F4DD3-D736-4B78-972E-F5128CFBE7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23">
              <a:extLst>
                <a:ext uri="{FF2B5EF4-FFF2-40B4-BE49-F238E27FC236}">
                  <a16:creationId xmlns:a16="http://schemas.microsoft.com/office/drawing/2014/main" id="{B14AF103-15B3-4796-A71A-297D37E176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24">
              <a:extLst>
                <a:ext uri="{FF2B5EF4-FFF2-40B4-BE49-F238E27FC236}">
                  <a16:creationId xmlns:a16="http://schemas.microsoft.com/office/drawing/2014/main" id="{B0B240FB-0453-4B6F-9F9B-C2C3305AC5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Freeform 25">
              <a:extLst>
                <a:ext uri="{FF2B5EF4-FFF2-40B4-BE49-F238E27FC236}">
                  <a16:creationId xmlns:a16="http://schemas.microsoft.com/office/drawing/2014/main" id="{EBBBDCEE-433E-40F3-B49D-375CB162A8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Freeform 26">
              <a:extLst>
                <a:ext uri="{FF2B5EF4-FFF2-40B4-BE49-F238E27FC236}">
                  <a16:creationId xmlns:a16="http://schemas.microsoft.com/office/drawing/2014/main" id="{09B123C6-141E-4A37-B5A7-27E7764FA1F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Freeform 27">
              <a:extLst>
                <a:ext uri="{FF2B5EF4-FFF2-40B4-BE49-F238E27FC236}">
                  <a16:creationId xmlns:a16="http://schemas.microsoft.com/office/drawing/2014/main" id="{1FA1F521-36A1-49FF-84A7-229E8970F7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28">
              <a:extLst>
                <a:ext uri="{FF2B5EF4-FFF2-40B4-BE49-F238E27FC236}">
                  <a16:creationId xmlns:a16="http://schemas.microsoft.com/office/drawing/2014/main" id="{DE512F89-D901-4487-A42C-02345EC5FC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Freeform 29">
              <a:extLst>
                <a:ext uri="{FF2B5EF4-FFF2-40B4-BE49-F238E27FC236}">
                  <a16:creationId xmlns:a16="http://schemas.microsoft.com/office/drawing/2014/main" id="{ED3ED0E5-3226-4B78-B3EA-C591824B89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Freeform 30">
              <a:extLst>
                <a:ext uri="{FF2B5EF4-FFF2-40B4-BE49-F238E27FC236}">
                  <a16:creationId xmlns:a16="http://schemas.microsoft.com/office/drawing/2014/main" id="{9CBB1F68-B6DE-4ECF-B20F-328F9811E2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Freeform 31">
              <a:extLst>
                <a:ext uri="{FF2B5EF4-FFF2-40B4-BE49-F238E27FC236}">
                  <a16:creationId xmlns:a16="http://schemas.microsoft.com/office/drawing/2014/main" id="{A566C551-9523-4D97-A8CF-5C91F436C5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Freeform 32">
              <a:extLst>
                <a:ext uri="{FF2B5EF4-FFF2-40B4-BE49-F238E27FC236}">
                  <a16:creationId xmlns:a16="http://schemas.microsoft.com/office/drawing/2014/main" id="{9E166BA0-9268-4419-9332-2D30C21239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B700C031-AA54-4DC7-B8A2-2569B3FA65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Freeform 34">
              <a:extLst>
                <a:ext uri="{FF2B5EF4-FFF2-40B4-BE49-F238E27FC236}">
                  <a16:creationId xmlns:a16="http://schemas.microsoft.com/office/drawing/2014/main" id="{03045EC8-ECC8-473F-8786-DE266F05B1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Freeform 35">
              <a:extLst>
                <a:ext uri="{FF2B5EF4-FFF2-40B4-BE49-F238E27FC236}">
                  <a16:creationId xmlns:a16="http://schemas.microsoft.com/office/drawing/2014/main" id="{9337EBA2-5088-4A44-8C0B-A6EE78989C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7" name="Freeform 36">
              <a:extLst>
                <a:ext uri="{FF2B5EF4-FFF2-40B4-BE49-F238E27FC236}">
                  <a16:creationId xmlns:a16="http://schemas.microsoft.com/office/drawing/2014/main" id="{3486A705-2593-45C9-A13E-8E2FB7C354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Freeform 37">
              <a:extLst>
                <a:ext uri="{FF2B5EF4-FFF2-40B4-BE49-F238E27FC236}">
                  <a16:creationId xmlns:a16="http://schemas.microsoft.com/office/drawing/2014/main" id="{F357321C-6DEE-4D02-A997-75E47EE0E0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Freeform 38">
              <a:extLst>
                <a:ext uri="{FF2B5EF4-FFF2-40B4-BE49-F238E27FC236}">
                  <a16:creationId xmlns:a16="http://schemas.microsoft.com/office/drawing/2014/main" id="{D0B8F87F-3530-4BCD-A8E5-C1B83707B5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Freeform 39">
              <a:extLst>
                <a:ext uri="{FF2B5EF4-FFF2-40B4-BE49-F238E27FC236}">
                  <a16:creationId xmlns:a16="http://schemas.microsoft.com/office/drawing/2014/main" id="{5BE86BA3-AB0E-4F70-A552-0D9EB9E98E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Freeform 40">
              <a:extLst>
                <a:ext uri="{FF2B5EF4-FFF2-40B4-BE49-F238E27FC236}">
                  <a16:creationId xmlns:a16="http://schemas.microsoft.com/office/drawing/2014/main" id="{DF5FE773-B9AE-4A3F-8EDC-165CE579BD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Freeform 41">
              <a:extLst>
                <a:ext uri="{FF2B5EF4-FFF2-40B4-BE49-F238E27FC236}">
                  <a16:creationId xmlns:a16="http://schemas.microsoft.com/office/drawing/2014/main" id="{4A03D7BE-B358-4F8B-85EA-65E0CBF2D1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Freeform 42">
              <a:extLst>
                <a:ext uri="{FF2B5EF4-FFF2-40B4-BE49-F238E27FC236}">
                  <a16:creationId xmlns:a16="http://schemas.microsoft.com/office/drawing/2014/main" id="{A6548877-0957-435B-A419-389A278E57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Freeform 43">
              <a:extLst>
                <a:ext uri="{FF2B5EF4-FFF2-40B4-BE49-F238E27FC236}">
                  <a16:creationId xmlns:a16="http://schemas.microsoft.com/office/drawing/2014/main" id="{B2D5EA95-9E60-468A-8DA1-40F05C9BDA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Freeform 44">
              <a:extLst>
                <a:ext uri="{FF2B5EF4-FFF2-40B4-BE49-F238E27FC236}">
                  <a16:creationId xmlns:a16="http://schemas.microsoft.com/office/drawing/2014/main" id="{C9B409CE-11E5-40D1-8C9B-86614EAE2A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9E594AF5-DB50-4227-AC2F-10EE5233C4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7" name="Freeform 46">
              <a:extLst>
                <a:ext uri="{FF2B5EF4-FFF2-40B4-BE49-F238E27FC236}">
                  <a16:creationId xmlns:a16="http://schemas.microsoft.com/office/drawing/2014/main" id="{9335DCAF-74A2-4994-B5BF-1C079A40A5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Freeform 47">
              <a:extLst>
                <a:ext uri="{FF2B5EF4-FFF2-40B4-BE49-F238E27FC236}">
                  <a16:creationId xmlns:a16="http://schemas.microsoft.com/office/drawing/2014/main" id="{1DC8E1A2-0C6B-4BA9-85F4-3645AED5DE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Freeform 48">
              <a:extLst>
                <a:ext uri="{FF2B5EF4-FFF2-40B4-BE49-F238E27FC236}">
                  <a16:creationId xmlns:a16="http://schemas.microsoft.com/office/drawing/2014/main" id="{28F38DE0-3BEE-441A-8212-E77DA2328A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0" name="Freeform 49">
              <a:extLst>
                <a:ext uri="{FF2B5EF4-FFF2-40B4-BE49-F238E27FC236}">
                  <a16:creationId xmlns:a16="http://schemas.microsoft.com/office/drawing/2014/main" id="{AE81208E-D239-496C-A312-506B0241B3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" name="Freeform 50">
              <a:extLst>
                <a:ext uri="{FF2B5EF4-FFF2-40B4-BE49-F238E27FC236}">
                  <a16:creationId xmlns:a16="http://schemas.microsoft.com/office/drawing/2014/main" id="{242FE966-DDA4-4668-B8D6-C4B0D4C78E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" name="Freeform 51">
              <a:extLst>
                <a:ext uri="{FF2B5EF4-FFF2-40B4-BE49-F238E27FC236}">
                  <a16:creationId xmlns:a16="http://schemas.microsoft.com/office/drawing/2014/main" id="{FB0A5F60-550F-4025-9DCE-6F42A7C064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Freeform 52">
              <a:extLst>
                <a:ext uri="{FF2B5EF4-FFF2-40B4-BE49-F238E27FC236}">
                  <a16:creationId xmlns:a16="http://schemas.microsoft.com/office/drawing/2014/main" id="{D7B61D18-4A61-44C9-A809-40639E8C1D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4" name="Freeform 53">
              <a:extLst>
                <a:ext uri="{FF2B5EF4-FFF2-40B4-BE49-F238E27FC236}">
                  <a16:creationId xmlns:a16="http://schemas.microsoft.com/office/drawing/2014/main" id="{CB26E7EB-DC12-4BA7-B5DE-09EF2C1D0A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5" name="Freeform 54">
              <a:extLst>
                <a:ext uri="{FF2B5EF4-FFF2-40B4-BE49-F238E27FC236}">
                  <a16:creationId xmlns:a16="http://schemas.microsoft.com/office/drawing/2014/main" id="{921237B4-9D85-4611-851F-5DBD71544A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6" name="Freeform 55">
              <a:extLst>
                <a:ext uri="{FF2B5EF4-FFF2-40B4-BE49-F238E27FC236}">
                  <a16:creationId xmlns:a16="http://schemas.microsoft.com/office/drawing/2014/main" id="{C91509DE-9FAA-4E84-BCC1-CDDBEA8AC01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7" name="Freeform 56">
              <a:extLst>
                <a:ext uri="{FF2B5EF4-FFF2-40B4-BE49-F238E27FC236}">
                  <a16:creationId xmlns:a16="http://schemas.microsoft.com/office/drawing/2014/main" id="{C7029B06-6A09-4E46-BA86-F3C66DBDD4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8" name="Freeform 57">
              <a:extLst>
                <a:ext uri="{FF2B5EF4-FFF2-40B4-BE49-F238E27FC236}">
                  <a16:creationId xmlns:a16="http://schemas.microsoft.com/office/drawing/2014/main" id="{FF4ACFBF-D1F2-47B1-B0EB-F08C6508BD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9" name="Freeform 58">
              <a:extLst>
                <a:ext uri="{FF2B5EF4-FFF2-40B4-BE49-F238E27FC236}">
                  <a16:creationId xmlns:a16="http://schemas.microsoft.com/office/drawing/2014/main" id="{A6FD1991-3A0E-4F63-BAD9-A98C298604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" name="Rectangle 1">
            <a:extLst>
              <a:ext uri="{FF2B5EF4-FFF2-40B4-BE49-F238E27FC236}">
                <a16:creationId xmlns:a16="http://schemas.microsoft.com/office/drawing/2014/main" id="{9E2F3661-23BD-EDA9-4B71-63A0EF2503D1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7962519" y="2249487"/>
            <a:ext cx="3084892" cy="3541714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Poboljšava pristupačnost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Koristan za učenike i početnike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Jednostavan za korištenje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Projekt se može dalje nadograđivati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26D5259-82CA-4BC8-526A-1755650947A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7534"/>
          <a:stretch>
            <a:fillRect/>
          </a:stretch>
        </p:blipFill>
        <p:spPr>
          <a:xfrm>
            <a:off x="-5597" y="10"/>
            <a:ext cx="7558541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99257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8000"/>
                <a:hueMod val="94000"/>
                <a:satMod val="148000"/>
                <a:lumMod val="150000"/>
              </a:schemeClr>
            </a:gs>
            <a:gs pos="100000">
              <a:schemeClr val="bg2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EEF4763-EB4A-4A35-89EB-AD2763B48C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3EEF87B-C44F-F21B-E542-527FC81612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</p:spPr>
        <p:txBody>
          <a:bodyPr>
            <a:normAutofit/>
          </a:bodyPr>
          <a:lstStyle/>
          <a:p>
            <a:r>
              <a:rPr lang="hr-HR" dirty="0"/>
              <a:t>ZAKLJUČAK</a:t>
            </a:r>
            <a:endParaRPr lang="en-US" dirty="0"/>
          </a:p>
        </p:txBody>
      </p:sp>
      <p:graphicFrame>
        <p:nvGraphicFramePr>
          <p:cNvPr id="6" name="Rectangle 1">
            <a:extLst>
              <a:ext uri="{FF2B5EF4-FFF2-40B4-BE49-F238E27FC236}">
                <a16:creationId xmlns:a16="http://schemas.microsoft.com/office/drawing/2014/main" id="{407B44C6-D07E-42FD-6C73-66E99991338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68585319"/>
              </p:ext>
            </p:extLst>
          </p:nvPr>
        </p:nvGraphicFramePr>
        <p:xfrm>
          <a:off x="1141411" y="2440771"/>
          <a:ext cx="9905999" cy="35848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56232177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TM04033919[[fn=Circuit]]</Template>
  <TotalTime>22</TotalTime>
  <Words>247</Words>
  <Application>Microsoft Office PowerPoint</Application>
  <PresentationFormat>Widescreen</PresentationFormat>
  <Paragraphs>55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Tw Cen MT</vt:lpstr>
      <vt:lpstr>Circuit</vt:lpstr>
      <vt:lpstr>VSC A11Y</vt:lpstr>
      <vt:lpstr>UVOD</vt:lpstr>
      <vt:lpstr>PROBLEM</vt:lpstr>
      <vt:lpstr>RJEŠENJE</vt:lpstr>
      <vt:lpstr>Error i Warning</vt:lpstr>
      <vt:lpstr>ZAŠTO JE TO VAŽNO?</vt:lpstr>
      <vt:lpstr>ISHIHARA TEST</vt:lpstr>
      <vt:lpstr>KAKO RADI ISHIHARA TEST?</vt:lpstr>
      <vt:lpstr>TEHNIČKA REALIZACIJA</vt:lpstr>
      <vt:lpstr>PREDNOSTI PROJEKTA</vt:lpstr>
      <vt:lpstr>ZAKLJUČAK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Mateo Štefanek</dc:creator>
  <cp:lastModifiedBy>Mateo Štefanek</cp:lastModifiedBy>
  <cp:revision>1</cp:revision>
  <dcterms:created xsi:type="dcterms:W3CDTF">2026-02-06T18:20:30Z</dcterms:created>
  <dcterms:modified xsi:type="dcterms:W3CDTF">2026-02-06T18:43:21Z</dcterms:modified>
</cp:coreProperties>
</file>